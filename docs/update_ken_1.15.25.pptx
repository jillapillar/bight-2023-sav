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99" r:id="rId5"/>
    <p:sldId id="259" r:id="rId6"/>
    <p:sldId id="258" r:id="rId7"/>
    <p:sldId id="300" r:id="rId8"/>
    <p:sldId id="261" r:id="rId9"/>
    <p:sldId id="301" r:id="rId10"/>
    <p:sldId id="262" r:id="rId11"/>
    <p:sldId id="296" r:id="rId12"/>
    <p:sldId id="298" r:id="rId13"/>
    <p:sldId id="29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5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60649-CE4F-2344-B974-1B68422AE19B}" v="14" dt="2026-01-15T22:27:01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3810"/>
  </p:normalViewPr>
  <p:slideViewPr>
    <p:cSldViewPr snapToGrid="0">
      <p:cViewPr varScale="1">
        <p:scale>
          <a:sx n="104" d="100"/>
          <a:sy n="104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33F2A-8613-1647-BA63-5733FA861511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0177B-2851-DE49-87BB-AFA034448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1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advance of the meeting, you can expect to receive: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Meeting agenda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QA/QC requests from our Fall meeting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analysis for the Bight report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2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Committee has requested several other QAQC checks –also done. </a:t>
            </a:r>
          </a:p>
          <a:p>
            <a:r>
              <a:rPr lang="en-US" dirty="0"/>
              <a:t>-Leaf area vs AFDW</a:t>
            </a:r>
          </a:p>
          <a:p>
            <a:r>
              <a:rPr lang="en-US" dirty="0"/>
              <a:t>-</a:t>
            </a:r>
            <a:r>
              <a:rPr lang="en-US"/>
              <a:t>shoot density vs AFDW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1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dirty="0"/>
              <a:t>Caveat</a:t>
            </a:r>
            <a:r>
              <a:rPr lang="en-US" sz="1200" dirty="0"/>
              <a:t>: Not very sensitive to subtle differences in ecosystem function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42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-Potential drivers that had no effect: species, site protection status, inlet status (all open).</a:t>
            </a:r>
          </a:p>
          <a:p>
            <a:r>
              <a:rPr lang="en-US" dirty="0"/>
              <a:t>-not finished: scrubbing historical Caulerpa maps for a “within 1 km of a known infestation” – still in progress</a:t>
            </a:r>
          </a:p>
          <a:p>
            <a:r>
              <a:rPr lang="en-US" dirty="0"/>
              <a:t>Most of our sites are WITHIN water bodies. Further away means closer to headwaters. This relationship makes sense. Small </a:t>
            </a:r>
            <a:r>
              <a:rPr lang="en-US" dirty="0" err="1"/>
              <a:t>embayments</a:t>
            </a:r>
            <a:r>
              <a:rPr lang="en-US" dirty="0"/>
              <a:t> tidal flushing period is short, large </a:t>
            </a:r>
            <a:r>
              <a:rPr lang="en-US" dirty="0" err="1"/>
              <a:t>embaryments</a:t>
            </a:r>
            <a:r>
              <a:rPr lang="en-US" dirty="0"/>
              <a:t> are longer. Estuaries are not very sensitive to this (why?)</a:t>
            </a:r>
          </a:p>
          <a:p>
            <a:r>
              <a:rPr lang="en-US" dirty="0"/>
              <a:t>-Estuaries are lowest – why is this? Shape may come into play.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7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for meeting:</a:t>
            </a:r>
          </a:p>
          <a:p>
            <a:pPr marL="228600" indent="-228600">
              <a:buAutoNum type="arabicParenBoth"/>
            </a:pPr>
            <a:r>
              <a:rPr lang="en-US" dirty="0"/>
              <a:t>Approve QAQC of the data</a:t>
            </a:r>
          </a:p>
          <a:p>
            <a:pPr marL="228600" indent="-228600">
              <a:buAutoNum type="arabicParenBoth"/>
            </a:pPr>
            <a:r>
              <a:rPr lang="en-US" dirty="0"/>
              <a:t>Feedback on data analysis and findings (they’ve already agreed on analyses) 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dirty="0"/>
              <a:t>Discuss any tool refinement before reporting</a:t>
            </a:r>
          </a:p>
          <a:p>
            <a:pPr marL="228600" indent="-228600">
              <a:buAutoNum type="arabicParenBoth"/>
            </a:pPr>
            <a:r>
              <a:rPr lang="en-US" dirty="0"/>
              <a:t>Brainstorm management applications to highlight in Bight Report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8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94A4-367A-C949-E14F-11F1DD30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87E6B-BAF0-C700-F4D6-94626D6A6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2E370-E550-40FD-1608-3802DA97E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rough order of events are to :</a:t>
            </a:r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/>
              <a:t>Complete data submission</a:t>
            </a:r>
            <a:endParaRPr lang="en-US" dirty="0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Committee reviews the data – with potential meeting review the reviews/questions</a:t>
            </a:r>
            <a:endParaRPr lang="en-US" dirty="0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Complete initial data analyses w/ initial review via email 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Complete draft final analyses based on review of initial analyses (plus any additions) with a meeting to walk through analyses and form conclusions and </a:t>
            </a:r>
            <a:r>
              <a:rPr lang="en-US" dirty="0" err="1"/>
              <a:t>reccommendations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Begin report writing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Hold meeting to discuss SOPs and potential revisions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Hold meeting (as necessary) to review draft report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Present to Bight Oversight Committee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Finalize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5912E-C9B2-108F-E59D-8F917C5DD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2C145-2552-C741-BB60-C8F323548D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1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B165-D645-A3D1-F95E-6735E24CB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3DE1C-2215-7B7F-3FF8-F491FC8D9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A17C-C740-39C3-FCC5-8DC01CDE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7ED4E-2EC7-A86F-6FE2-54B58059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5401-75EA-104F-2D21-34635266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6BA9-013F-5A6D-1357-16126D4B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B92D8-153E-CC70-B0E2-6625CDF9B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7F53-A8D0-FC0B-9006-7A2B6B58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3918-97DA-1EDE-80DC-1B29217F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37DB-FB6B-02D4-8F74-7CAA24C7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2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7401-2939-9CFC-2129-3D2F21E43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51EFA-78ED-756D-DC7C-189E1198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481E6-73CB-0A01-71BF-37B5A9AB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25298-54D3-3006-5C8F-CE76D66B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2D97-E2D0-6C10-2D94-25A7C1AD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0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0FD9-868B-6132-711A-D9DBEFFD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6470-16B9-E41A-D874-BF6C76BF5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CEA43-B10B-00C1-0803-44D0B6196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38118-641F-9E0C-FC4E-3195FE6E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EF241-499A-BB02-839B-CE52DD4C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C4E3C-0BCC-4ABB-03AD-48890A83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6EC3-AF64-1ED8-C30C-404E8EC2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32559-7512-7599-8EFC-98EC8A0CC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AF8D3-347B-71C9-406F-48DE90321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B4BCF-840D-76FE-171E-64E1837EA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9CEA2-C89B-B4B6-778B-2FF23E975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27931-0BB2-6586-78CE-501BE228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24F10-1505-BAD2-9EFC-EE3F619B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F91E3-5565-10C0-345A-9F6E5633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5DE3-CDAE-E41D-9E62-5F4D4055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AE850-64E0-A4AB-DCC8-2428AD64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912D6-DAC2-3691-03E8-41B55B36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D7041-3414-C366-58BB-B360A3B8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4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6C606-4D71-E6C8-DB9F-0D5115C4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0A7E9F-4987-4597-21DA-12ABA58B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4B4A1-F8D3-61F7-2FC9-71BB4F93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4EA7-5558-0576-8FA0-E2AF6894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4C95-8388-4EEA-D847-DF3D130F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86AB6-CF67-83F9-B6B3-517161C97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52A00-1AF6-B391-4387-9CE79C83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4A71E-3D3E-1643-7C6D-1D3438AB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E8AA8-F1C8-CDE6-C546-FC291E76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2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520F-0B39-784A-B867-961BDA70C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B8F94-9BD1-4BEF-FBBB-170844C9E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D73F9-882E-9540-6EFE-DB80C1B2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B0A0E-EAC0-52D0-F807-259B5BCF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23379-AECD-9C08-9ABC-74F900B1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EE741-5742-A243-C6BF-64091B94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2F9F-CF59-F5D5-EC5E-EA74884A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8A2E1-3B4C-107F-EF6E-D8CA96CF4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C242C-A579-CB76-CA6C-CE0170D5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EE0F1-BA55-229C-0743-860781F3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5484A-A097-7D90-1DA0-EC657D02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8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7232A-656D-6056-A28F-462222A5F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AD71D-FC08-36A6-3055-0FD4553F7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4027E-3164-8838-EB55-C55F9AB5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95E58-4841-F57F-CB30-2D69B97C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BFBCD-1BB1-2386-9300-537FD443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290AE-B892-B087-D420-4C1801F8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AE531-CE7C-659F-DF43-27088F79B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E069D-C67E-3558-AB4D-5D3C7C83C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89141-365E-7047-BD79-7EF1490F883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588C-27A4-8966-08BC-57849047F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867B-3FD5-65DD-6B8B-CB31A110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277FE-6FC8-8A46-875B-237E3D042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7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4152-C6C2-7386-EB0A-761872DE1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Bight 2023 SAV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5A9E5-04DF-CEED-9661-32EF8C2A0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01/15/2025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89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8E2B-F983-4E6B-6ED6-24E514C61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92DA-6085-941B-40FE-1212660F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Discussed Bight 2023 timeline </a:t>
            </a:r>
          </a:p>
          <a:p>
            <a:pPr marL="514350" indent="-514350">
              <a:buAutoNum type="arabicParenBoth"/>
            </a:pPr>
            <a:r>
              <a:rPr lang="en-US" dirty="0"/>
              <a:t>Discussed development of RESCQ calculator</a:t>
            </a:r>
          </a:p>
          <a:p>
            <a:pPr marL="514350" indent="-514350">
              <a:buAutoNum type="arabicParenBoth"/>
            </a:pPr>
            <a:r>
              <a:rPr lang="en-US" dirty="0"/>
              <a:t>Previewed eelgrass condition index scores with RESCQ data</a:t>
            </a:r>
          </a:p>
        </p:txBody>
      </p:sp>
    </p:spTree>
    <p:extLst>
      <p:ext uri="{BB962C8B-B14F-4D97-AF65-F5344CB8AC3E}">
        <p14:creationId xmlns:p14="http://schemas.microsoft.com/office/powerpoint/2010/main" val="3910902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518E-78F8-38F4-B72B-CDE3A307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E4D0-9A17-63F1-D772-0F4CA0844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Preview major findings of eelgrass index with data from Bight 2023 survey</a:t>
            </a:r>
          </a:p>
          <a:p>
            <a:pPr marL="971550" lvl="1" indent="-514350">
              <a:buAutoNum type="arabicParenBoth"/>
            </a:pPr>
            <a:r>
              <a:rPr lang="en-US" dirty="0"/>
              <a:t>What is the condition of eelgrass across the region? Does it differ by strata (small </a:t>
            </a:r>
            <a:r>
              <a:rPr lang="en-US" dirty="0" err="1"/>
              <a:t>embayments</a:t>
            </a:r>
            <a:r>
              <a:rPr lang="en-US" dirty="0"/>
              <a:t>, large </a:t>
            </a:r>
            <a:r>
              <a:rPr lang="en-US" dirty="0" err="1"/>
              <a:t>embayments</a:t>
            </a:r>
            <a:r>
              <a:rPr lang="en-US" dirty="0"/>
              <a:t> &amp; estuaries)</a:t>
            </a:r>
          </a:p>
          <a:p>
            <a:pPr marL="1428750" lvl="2" indent="-514350">
              <a:buAutoNum type="arabicParenBoth"/>
            </a:pPr>
            <a:r>
              <a:rPr lang="en-US" dirty="0"/>
              <a:t>Overall condition scores</a:t>
            </a:r>
          </a:p>
          <a:p>
            <a:pPr marL="1428750" lvl="2" indent="-514350">
              <a:buAutoNum type="arabicParenBoth"/>
            </a:pPr>
            <a:r>
              <a:rPr lang="en-US" dirty="0"/>
              <a:t>Ecosystem function scores</a:t>
            </a:r>
          </a:p>
          <a:p>
            <a:pPr marL="514350" indent="-514350">
              <a:buAutoNum type="arabicParenBoth"/>
            </a:pPr>
            <a:r>
              <a:rPr lang="en-US" dirty="0"/>
              <a:t>Preview “secondary and tertiary” analyses requested by committee</a:t>
            </a:r>
          </a:p>
          <a:p>
            <a:pPr marL="971550" lvl="1" indent="-514350">
              <a:buAutoNum type="arabicParenBoth"/>
            </a:pPr>
            <a:r>
              <a:rPr lang="en-US" dirty="0"/>
              <a:t>Index scores vs. other environmental data</a:t>
            </a:r>
          </a:p>
          <a:p>
            <a:pPr marL="971550" lvl="1" indent="-514350">
              <a:buAutoNum type="arabicParenBoth"/>
            </a:pPr>
            <a:r>
              <a:rPr lang="en-US" dirty="0"/>
              <a:t>Site-specific eelgrass condition</a:t>
            </a:r>
          </a:p>
        </p:txBody>
      </p:sp>
    </p:spTree>
    <p:extLst>
      <p:ext uri="{BB962C8B-B14F-4D97-AF65-F5344CB8AC3E}">
        <p14:creationId xmlns:p14="http://schemas.microsoft.com/office/powerpoint/2010/main" val="58508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B73E-02D2-9E50-36C2-25D2B964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B2D32-8BA1-3C83-1EF7-BA7C5E6A1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7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BC33A90-D79A-D1ED-D3F0-47105F8F0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80545" y="310055"/>
            <a:ext cx="6237890" cy="623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7F75BB-2D6E-77C9-2622-C9A59F94437C}"/>
              </a:ext>
            </a:extLst>
          </p:cNvPr>
          <p:cNvSpPr txBox="1"/>
          <p:nvPr/>
        </p:nvSpPr>
        <p:spPr>
          <a:xfrm>
            <a:off x="7451834" y="425669"/>
            <a:ext cx="38047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Area-weighted overall condition scores for eelgrass beds across Bight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 in overall moderate condition by stratum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/>
              <a:t>Good news</a:t>
            </a:r>
            <a:r>
              <a:rPr lang="en-US" sz="2800" dirty="0"/>
              <a:t>: Results are comparable to RESCQ survey</a:t>
            </a:r>
          </a:p>
        </p:txBody>
      </p:sp>
    </p:spTree>
    <p:extLst>
      <p:ext uri="{BB962C8B-B14F-4D97-AF65-F5344CB8AC3E}">
        <p14:creationId xmlns:p14="http://schemas.microsoft.com/office/powerpoint/2010/main" val="296247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ED86F8-EF62-01B6-6F80-A12E900713C6}"/>
              </a:ext>
            </a:extLst>
          </p:cNvPr>
          <p:cNvSpPr txBox="1"/>
          <p:nvPr/>
        </p:nvSpPr>
        <p:spPr>
          <a:xfrm>
            <a:off x="7567448" y="162910"/>
            <a:ext cx="380474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Area-weighted function scores for eelgrass beds across Bight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Most (55% - 100%) area is in </a:t>
            </a:r>
            <a:r>
              <a:rPr lang="en-US" sz="2400" u="sng" dirty="0">
                <a:solidFill>
                  <a:srgbClr val="5358B3"/>
                </a:solidFill>
              </a:rPr>
              <a:t>Moderate</a:t>
            </a:r>
            <a:r>
              <a:rPr lang="en-US" sz="2400" dirty="0"/>
              <a:t> condition for all ecosystem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About 10-15% of area for all functions is in </a:t>
            </a:r>
            <a:r>
              <a:rPr lang="en-US" sz="2400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Good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/>
              <a:t>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About 30-40% of area for all functions is in </a:t>
            </a:r>
            <a:r>
              <a:rPr lang="en-US" sz="2400" u="sng" dirty="0">
                <a:solidFill>
                  <a:schemeClr val="accent2">
                    <a:lumMod val="50000"/>
                  </a:schemeClr>
                </a:solidFill>
              </a:rPr>
              <a:t>Poor</a:t>
            </a:r>
            <a:r>
              <a:rPr lang="en-US" sz="2400" dirty="0"/>
              <a:t> 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AB493CD-CF43-58F6-56E0-9F471F7C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6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2F83-C372-CA73-6AE2-1C353AFC9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7503" y="2235200"/>
            <a:ext cx="9144000" cy="2387600"/>
          </a:xfrm>
        </p:spPr>
        <p:txBody>
          <a:bodyPr/>
          <a:lstStyle/>
          <a:p>
            <a:r>
              <a:rPr lang="en-US" dirty="0"/>
              <a:t>Function scores vs potential environmental drivers</a:t>
            </a:r>
          </a:p>
        </p:txBody>
      </p:sp>
    </p:spTree>
    <p:extLst>
      <p:ext uri="{BB962C8B-B14F-4D97-AF65-F5344CB8AC3E}">
        <p14:creationId xmlns:p14="http://schemas.microsoft.com/office/powerpoint/2010/main" val="403833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CF20-1FB1-20BF-26DF-C3231498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71"/>
            <a:ext cx="10515600" cy="1062805"/>
          </a:xfrm>
        </p:spPr>
        <p:txBody>
          <a:bodyPr/>
          <a:lstStyle/>
          <a:p>
            <a:r>
              <a:rPr lang="en-US" dirty="0"/>
              <a:t>Distance to inlet vs. water quality condition</a:t>
            </a:r>
          </a:p>
        </p:txBody>
      </p:sp>
      <p:pic>
        <p:nvPicPr>
          <p:cNvPr id="10" name="Content Placeholder 9" descr="A diagram of water quality function&#10;&#10;AI-generated content may be incorrect.">
            <a:extLst>
              <a:ext uri="{FF2B5EF4-FFF2-40B4-BE49-F238E27FC236}">
                <a16:creationId xmlns:a16="http://schemas.microsoft.com/office/drawing/2014/main" id="{F4F09EF2-6C1D-DC6B-7368-2377E131A2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40772" y="935422"/>
            <a:ext cx="6813557" cy="5852784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7CA07D-C95C-B37B-FC4C-DA6D01563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061138" cy="4351338"/>
          </a:xfrm>
        </p:spPr>
        <p:txBody>
          <a:bodyPr/>
          <a:lstStyle/>
          <a:p>
            <a:r>
              <a:rPr lang="en-US" dirty="0"/>
              <a:t>Water quality function scores increase with decreasing distance to inlet, </a:t>
            </a:r>
            <a:r>
              <a:rPr lang="en-US" u="sng" dirty="0"/>
              <a:t>especially in large </a:t>
            </a:r>
            <a:r>
              <a:rPr lang="en-US" u="sng" dirty="0" err="1"/>
              <a:t>embayments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581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FCC1-CF06-575C-98EB-4F38103F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Site-specific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A74B1-DD57-2391-C7F8-79A4AA204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34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BD95-5399-717E-24BF-7D11F8EA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491"/>
          </a:xfrm>
        </p:spPr>
        <p:txBody>
          <a:bodyPr/>
          <a:lstStyle/>
          <a:p>
            <a:r>
              <a:rPr lang="en-US" dirty="0"/>
              <a:t>Site-specific water quality condition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0ACCC-E383-9DB0-9CD1-1F2D7C6A89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Maps</a:t>
            </a:r>
          </a:p>
          <a:p>
            <a:r>
              <a:rPr lang="en-US" dirty="0"/>
              <a:t>Appendix tables for all water bodies</a:t>
            </a:r>
          </a:p>
          <a:p>
            <a:pPr lvl="1"/>
            <a:r>
              <a:rPr lang="en-US" dirty="0"/>
              <a:t>Covering all 7 functions</a:t>
            </a:r>
          </a:p>
          <a:p>
            <a:r>
              <a:rPr lang="en-US" dirty="0"/>
              <a:t>San Diego: Mission Bay has pretty good WQ, but there are some problem areas within San Diego Bay.</a:t>
            </a:r>
          </a:p>
        </p:txBody>
      </p:sp>
      <p:pic>
        <p:nvPicPr>
          <p:cNvPr id="8" name="Picture 7" descr="A map of a beach&#10;&#10;AI-generated content may be incorrect.">
            <a:extLst>
              <a:ext uri="{FF2B5EF4-FFF2-40B4-BE49-F238E27FC236}">
                <a16:creationId xmlns:a16="http://schemas.microsoft.com/office/drawing/2014/main" id="{0BF0A191-BB7A-69EF-AA20-A53E4ED95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8" y="1233616"/>
            <a:ext cx="5624384" cy="562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A9B9-AF58-BF6B-04A7-E319D513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cess 6">
            <a:extLst>
              <a:ext uri="{FF2B5EF4-FFF2-40B4-BE49-F238E27FC236}">
                <a16:creationId xmlns:a16="http://schemas.microsoft.com/office/drawing/2014/main" id="{20AB7872-F36F-7387-90B9-C3FDE7134BED}"/>
              </a:ext>
            </a:extLst>
          </p:cNvPr>
          <p:cNvSpPr/>
          <p:nvPr/>
        </p:nvSpPr>
        <p:spPr>
          <a:xfrm>
            <a:off x="170709" y="397899"/>
            <a:ext cx="11837505" cy="1180585"/>
          </a:xfrm>
          <a:prstGeom prst="flowChartProcess">
            <a:avLst/>
          </a:prstGeom>
          <a:solidFill>
            <a:srgbClr val="494B3D">
              <a:alpha val="57000"/>
            </a:srgbClr>
          </a:solidFill>
          <a:ln>
            <a:solidFill>
              <a:srgbClr val="D6F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4A187-05FD-78BC-EA29-69E005EDA9B2}"/>
              </a:ext>
            </a:extLst>
          </p:cNvPr>
          <p:cNvSpPr txBox="1"/>
          <p:nvPr/>
        </p:nvSpPr>
        <p:spPr>
          <a:xfrm>
            <a:off x="443265" y="582851"/>
            <a:ext cx="6627043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Project timeline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E57643-B77A-435B-A25C-3D1DDB79C22B}"/>
              </a:ext>
            </a:extLst>
          </p:cNvPr>
          <p:cNvGrpSpPr/>
          <p:nvPr/>
        </p:nvGrpSpPr>
        <p:grpSpPr>
          <a:xfrm>
            <a:off x="21991" y="4988418"/>
            <a:ext cx="11851400" cy="1483034"/>
            <a:chOff x="-93028" y="3881361"/>
            <a:chExt cx="11851400" cy="1483034"/>
          </a:xfrm>
        </p:grpSpPr>
        <p:cxnSp>
          <p:nvCxnSpPr>
            <p:cNvPr id="875" name="Straight Arrow Connector 874">
              <a:extLst>
                <a:ext uri="{FF2B5EF4-FFF2-40B4-BE49-F238E27FC236}">
                  <a16:creationId xmlns:a16="http://schemas.microsoft.com/office/drawing/2014/main" id="{E24570DD-0AE5-BC02-D9B6-54480FD2C105}"/>
                </a:ext>
              </a:extLst>
            </p:cNvPr>
            <p:cNvCxnSpPr/>
            <p:nvPr/>
          </p:nvCxnSpPr>
          <p:spPr>
            <a:xfrm>
              <a:off x="271157" y="3944108"/>
              <a:ext cx="11487215" cy="123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Flowchart: Connector 875">
              <a:extLst>
                <a:ext uri="{FF2B5EF4-FFF2-40B4-BE49-F238E27FC236}">
                  <a16:creationId xmlns:a16="http://schemas.microsoft.com/office/drawing/2014/main" id="{76096191-12B2-A4A1-5E49-E08C5C2725AF}"/>
                </a:ext>
              </a:extLst>
            </p:cNvPr>
            <p:cNvSpPr/>
            <p:nvPr/>
          </p:nvSpPr>
          <p:spPr>
            <a:xfrm>
              <a:off x="376420" y="3881362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c</a:t>
              </a:r>
              <a:endParaRPr lang="en-US"/>
            </a:p>
          </p:txBody>
        </p:sp>
        <p:sp>
          <p:nvSpPr>
            <p:cNvPr id="877" name="Flowchart: Connector 876">
              <a:extLst>
                <a:ext uri="{FF2B5EF4-FFF2-40B4-BE49-F238E27FC236}">
                  <a16:creationId xmlns:a16="http://schemas.microsoft.com/office/drawing/2014/main" id="{108C344E-8047-E699-C706-47AD59015DE6}"/>
                </a:ext>
              </a:extLst>
            </p:cNvPr>
            <p:cNvSpPr/>
            <p:nvPr/>
          </p:nvSpPr>
          <p:spPr>
            <a:xfrm>
              <a:off x="3407610" y="3914979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Flowchart: Connector 878">
              <a:extLst>
                <a:ext uri="{FF2B5EF4-FFF2-40B4-BE49-F238E27FC236}">
                  <a16:creationId xmlns:a16="http://schemas.microsoft.com/office/drawing/2014/main" id="{31C8D443-FB6D-611A-D1BF-471600EB59C0}"/>
                </a:ext>
              </a:extLst>
            </p:cNvPr>
            <p:cNvSpPr/>
            <p:nvPr/>
          </p:nvSpPr>
          <p:spPr>
            <a:xfrm>
              <a:off x="6097023" y="3881361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Flowchart: Connector 883">
              <a:extLst>
                <a:ext uri="{FF2B5EF4-FFF2-40B4-BE49-F238E27FC236}">
                  <a16:creationId xmlns:a16="http://schemas.microsoft.com/office/drawing/2014/main" id="{CD495CBA-86FA-5BFD-A795-F4E5C233F032}"/>
                </a:ext>
              </a:extLst>
            </p:cNvPr>
            <p:cNvSpPr/>
            <p:nvPr/>
          </p:nvSpPr>
          <p:spPr>
            <a:xfrm>
              <a:off x="9094596" y="3881361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TextBox 890">
              <a:extLst>
                <a:ext uri="{FF2B5EF4-FFF2-40B4-BE49-F238E27FC236}">
                  <a16:creationId xmlns:a16="http://schemas.microsoft.com/office/drawing/2014/main" id="{81CDE87F-013F-C584-9CD9-61CDA5A52835}"/>
                </a:ext>
              </a:extLst>
            </p:cNvPr>
            <p:cNvSpPr txBox="1"/>
            <p:nvPr/>
          </p:nvSpPr>
          <p:spPr>
            <a:xfrm rot="19140000">
              <a:off x="-93028" y="4373261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June/ July 2025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2" name="TextBox 891">
              <a:extLst>
                <a:ext uri="{FF2B5EF4-FFF2-40B4-BE49-F238E27FC236}">
                  <a16:creationId xmlns:a16="http://schemas.microsoft.com/office/drawing/2014/main" id="{B4265817-7DA8-4593-D47D-496C9060F3EC}"/>
                </a:ext>
              </a:extLst>
            </p:cNvPr>
            <p:cNvSpPr txBox="1"/>
            <p:nvPr/>
          </p:nvSpPr>
          <p:spPr>
            <a:xfrm rot="19140000">
              <a:off x="2325548" y="4441065"/>
              <a:ext cx="205941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August/September 2025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3" name="TextBox 892">
              <a:extLst>
                <a:ext uri="{FF2B5EF4-FFF2-40B4-BE49-F238E27FC236}">
                  <a16:creationId xmlns:a16="http://schemas.microsoft.com/office/drawing/2014/main" id="{5BE53647-E665-F5AE-D6D4-12BDD08597D5}"/>
                </a:ext>
              </a:extLst>
            </p:cNvPr>
            <p:cNvSpPr txBox="1"/>
            <p:nvPr/>
          </p:nvSpPr>
          <p:spPr>
            <a:xfrm rot="19140000">
              <a:off x="5145721" y="4507730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January 2026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4" name="TextBox 893">
              <a:extLst>
                <a:ext uri="{FF2B5EF4-FFF2-40B4-BE49-F238E27FC236}">
                  <a16:creationId xmlns:a16="http://schemas.microsoft.com/office/drawing/2014/main" id="{CB17C28C-EB65-8F64-D10D-39E4745DC2CD}"/>
                </a:ext>
              </a:extLst>
            </p:cNvPr>
            <p:cNvSpPr txBox="1"/>
            <p:nvPr/>
          </p:nvSpPr>
          <p:spPr>
            <a:xfrm rot="19140000">
              <a:off x="8479470" y="4249994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February 2026</a:t>
              </a:r>
              <a:endParaRPr lang="en-US"/>
            </a:p>
            <a:p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0FD8F45-1CB5-571A-98C1-BAEDD1B2B8FD}"/>
              </a:ext>
            </a:extLst>
          </p:cNvPr>
          <p:cNvGrpSpPr/>
          <p:nvPr/>
        </p:nvGrpSpPr>
        <p:grpSpPr>
          <a:xfrm>
            <a:off x="1385304" y="2167263"/>
            <a:ext cx="10335027" cy="2698957"/>
            <a:chOff x="1327795" y="1088961"/>
            <a:chExt cx="10335027" cy="2698957"/>
          </a:xfrm>
        </p:grpSpPr>
        <p:sp>
          <p:nvSpPr>
            <p:cNvPr id="883" name="Callout: Bent Line 882">
              <a:extLst>
                <a:ext uri="{FF2B5EF4-FFF2-40B4-BE49-F238E27FC236}">
                  <a16:creationId xmlns:a16="http://schemas.microsoft.com/office/drawing/2014/main" id="{BD892D13-2BE1-7277-EA40-05C39766FEFD}"/>
                </a:ext>
              </a:extLst>
            </p:cNvPr>
            <p:cNvSpPr/>
            <p:nvPr/>
          </p:nvSpPr>
          <p:spPr>
            <a:xfrm>
              <a:off x="1327795" y="2327210"/>
              <a:ext cx="1717705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Status update meeting</a:t>
              </a:r>
            </a:p>
          </p:txBody>
        </p:sp>
        <p:sp>
          <p:nvSpPr>
            <p:cNvPr id="885" name="Callout: Bent Line 884">
              <a:extLst>
                <a:ext uri="{FF2B5EF4-FFF2-40B4-BE49-F238E27FC236}">
                  <a16:creationId xmlns:a16="http://schemas.microsoft.com/office/drawing/2014/main" id="{6BD619CC-D679-40D5-7E27-F7EAE395936C}"/>
                </a:ext>
              </a:extLst>
            </p:cNvPr>
            <p:cNvSpPr/>
            <p:nvPr/>
          </p:nvSpPr>
          <p:spPr>
            <a:xfrm>
              <a:off x="1327795" y="3044386"/>
              <a:ext cx="1717705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Gather all SAV field/lab data</a:t>
              </a:r>
            </a:p>
          </p:txBody>
        </p:sp>
        <p:sp>
          <p:nvSpPr>
            <p:cNvPr id="886" name="Callout: Bent Line 885">
              <a:extLst>
                <a:ext uri="{FF2B5EF4-FFF2-40B4-BE49-F238E27FC236}">
                  <a16:creationId xmlns:a16="http://schemas.microsoft.com/office/drawing/2014/main" id="{B665F1FA-986D-1A51-1A5F-75445FF5838A}"/>
                </a:ext>
              </a:extLst>
            </p:cNvPr>
            <p:cNvSpPr/>
            <p:nvPr/>
          </p:nvSpPr>
          <p:spPr>
            <a:xfrm>
              <a:off x="4235722" y="1088961"/>
              <a:ext cx="1734513" cy="1808528"/>
            </a:xfrm>
            <a:prstGeom prst="borderCallout2">
              <a:avLst/>
            </a:prstGeom>
            <a:solidFill>
              <a:srgbClr val="F2EF2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Key graphics created, preliminary analysis complete</a:t>
              </a:r>
            </a:p>
          </p:txBody>
        </p:sp>
        <p:sp>
          <p:nvSpPr>
            <p:cNvPr id="887" name="Callout: Bent Line 886">
              <a:extLst>
                <a:ext uri="{FF2B5EF4-FFF2-40B4-BE49-F238E27FC236}">
                  <a16:creationId xmlns:a16="http://schemas.microsoft.com/office/drawing/2014/main" id="{46DF4A3A-A848-0399-4053-CFF3620AEF55}"/>
                </a:ext>
              </a:extLst>
            </p:cNvPr>
            <p:cNvSpPr/>
            <p:nvPr/>
          </p:nvSpPr>
          <p:spPr>
            <a:xfrm>
              <a:off x="9945117" y="3044385"/>
              <a:ext cx="1717705" cy="570279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Wrap up meeting</a:t>
              </a:r>
            </a:p>
          </p:txBody>
        </p:sp>
        <p:sp>
          <p:nvSpPr>
            <p:cNvPr id="888" name="Callout: Bent Line 887">
              <a:extLst>
                <a:ext uri="{FF2B5EF4-FFF2-40B4-BE49-F238E27FC236}">
                  <a16:creationId xmlns:a16="http://schemas.microsoft.com/office/drawing/2014/main" id="{510B603C-56E8-BFAB-3E2E-D01A1AD0AE42}"/>
                </a:ext>
              </a:extLst>
            </p:cNvPr>
            <p:cNvSpPr/>
            <p:nvPr/>
          </p:nvSpPr>
          <p:spPr>
            <a:xfrm>
              <a:off x="6881157" y="3044385"/>
              <a:ext cx="1806504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SOP Revisions Discussion</a:t>
              </a:r>
            </a:p>
          </p:txBody>
        </p:sp>
        <p:sp>
          <p:nvSpPr>
            <p:cNvPr id="889" name="Callout: Bent Line 888">
              <a:extLst>
                <a:ext uri="{FF2B5EF4-FFF2-40B4-BE49-F238E27FC236}">
                  <a16:creationId xmlns:a16="http://schemas.microsoft.com/office/drawing/2014/main" id="{918ED200-3E68-E4A4-CCA9-A0B1A69EA432}"/>
                </a:ext>
              </a:extLst>
            </p:cNvPr>
            <p:cNvSpPr/>
            <p:nvPr/>
          </p:nvSpPr>
          <p:spPr>
            <a:xfrm>
              <a:off x="4235722" y="2957955"/>
              <a:ext cx="1717705" cy="829963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Analysis Review Meeting</a:t>
              </a:r>
            </a:p>
          </p:txBody>
        </p:sp>
        <p:sp>
          <p:nvSpPr>
            <p:cNvPr id="899" name="Callout: Bent Line 898">
              <a:extLst>
                <a:ext uri="{FF2B5EF4-FFF2-40B4-BE49-F238E27FC236}">
                  <a16:creationId xmlns:a16="http://schemas.microsoft.com/office/drawing/2014/main" id="{4FE60247-68C4-23EB-A212-E79C951F20DF}"/>
                </a:ext>
              </a:extLst>
            </p:cNvPr>
            <p:cNvSpPr/>
            <p:nvPr/>
          </p:nvSpPr>
          <p:spPr>
            <a:xfrm>
              <a:off x="6883692" y="1694713"/>
              <a:ext cx="1803969" cy="1202776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strike="sngStrike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Verbal report to overall Bight committee</a:t>
              </a:r>
            </a:p>
          </p:txBody>
        </p:sp>
        <p:sp>
          <p:nvSpPr>
            <p:cNvPr id="900" name="Callout: Bent Line 899">
              <a:extLst>
                <a:ext uri="{FF2B5EF4-FFF2-40B4-BE49-F238E27FC236}">
                  <a16:creationId xmlns:a16="http://schemas.microsoft.com/office/drawing/2014/main" id="{0964F4B9-C55D-B8A2-2859-CDFE3A18822C}"/>
                </a:ext>
              </a:extLst>
            </p:cNvPr>
            <p:cNvSpPr/>
            <p:nvPr/>
          </p:nvSpPr>
          <p:spPr>
            <a:xfrm>
              <a:off x="9945117" y="1985430"/>
              <a:ext cx="1717705" cy="912058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Draft report written</a:t>
              </a:r>
            </a:p>
          </p:txBody>
        </p:sp>
      </p:grp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39C1F0EC-D495-078C-2198-9C8CB251A854}"/>
              </a:ext>
            </a:extLst>
          </p:cNvPr>
          <p:cNvSpPr/>
          <p:nvPr/>
        </p:nvSpPr>
        <p:spPr>
          <a:xfrm>
            <a:off x="4806141" y="5157614"/>
            <a:ext cx="885749" cy="75921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A5697B2B-44BD-D80D-7FC0-B06E37EF0856}"/>
              </a:ext>
            </a:extLst>
          </p:cNvPr>
          <p:cNvSpPr/>
          <p:nvPr/>
        </p:nvSpPr>
        <p:spPr>
          <a:xfrm>
            <a:off x="4365118" y="1366111"/>
            <a:ext cx="1734513" cy="707886"/>
          </a:xfrm>
          <a:prstGeom prst="borderCallout2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Light"/>
                <a:ea typeface="Calibri"/>
                <a:cs typeface="Calibri"/>
              </a:rPr>
              <a:t>Public landing page available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5676B687-D053-4799-5389-9DC748F27FD3}"/>
              </a:ext>
            </a:extLst>
          </p:cNvPr>
          <p:cNvSpPr/>
          <p:nvPr/>
        </p:nvSpPr>
        <p:spPr>
          <a:xfrm>
            <a:off x="6938665" y="1578846"/>
            <a:ext cx="1763267" cy="1015663"/>
          </a:xfrm>
          <a:prstGeom prst="borderCallout2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Light"/>
                <a:ea typeface="Calibri"/>
                <a:cs typeface="Calibri"/>
              </a:rPr>
              <a:t>Recorded data portal webinar available </a:t>
            </a: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992B9FE5-7E80-88B4-1F99-98ACC8F33711}"/>
              </a:ext>
            </a:extLst>
          </p:cNvPr>
          <p:cNvSpPr/>
          <p:nvPr/>
        </p:nvSpPr>
        <p:spPr>
          <a:xfrm>
            <a:off x="9702026" y="619441"/>
            <a:ext cx="2484699" cy="2208261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A253F-650B-0AC1-ACEC-7FFE262DACE3}"/>
              </a:ext>
            </a:extLst>
          </p:cNvPr>
          <p:cNvSpPr txBox="1"/>
          <p:nvPr/>
        </p:nvSpPr>
        <p:spPr>
          <a:xfrm>
            <a:off x="10106394" y="1293660"/>
            <a:ext cx="166729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ea typeface="Calibri"/>
                <a:cs typeface="Calibri"/>
              </a:rPr>
              <a:t>Target deadline: March 2026</a:t>
            </a:r>
          </a:p>
        </p:txBody>
      </p:sp>
    </p:spTree>
    <p:extLst>
      <p:ext uri="{BB962C8B-B14F-4D97-AF65-F5344CB8AC3E}">
        <p14:creationId xmlns:p14="http://schemas.microsoft.com/office/powerpoint/2010/main" val="276243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5DE6B9-05C3-2798-2B32-1153C4EC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BE36-2204-7CEE-AAF6-F4B3057E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Site-specific eelgrass condition</a:t>
            </a:r>
          </a:p>
        </p:txBody>
      </p:sp>
      <p:pic>
        <p:nvPicPr>
          <p:cNvPr id="6" name="Content Placeholder 5" descr="A map of the california coast&#10;&#10;AI-generated content may be incorrect.">
            <a:extLst>
              <a:ext uri="{FF2B5EF4-FFF2-40B4-BE49-F238E27FC236}">
                <a16:creationId xmlns:a16="http://schemas.microsoft.com/office/drawing/2014/main" id="{4C5741EA-FE1C-9A6C-59A0-0A8DF49DB8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6639" y="1338413"/>
            <a:ext cx="5332820" cy="533282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A9D6-1A74-35B9-495D-23B3AA025E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  <a:p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570978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FBBE-E971-4879-BA3C-212CF5EF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diagram of water quality function&#10;&#10;AI-generated content may be incorrect.">
            <a:extLst>
              <a:ext uri="{FF2B5EF4-FFF2-40B4-BE49-F238E27FC236}">
                <a16:creationId xmlns:a16="http://schemas.microsoft.com/office/drawing/2014/main" id="{FF59A1FE-F3E4-41F5-7BC8-BCDC3F1BF9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641139"/>
            <a:ext cx="4561490" cy="4561490"/>
          </a:xfrm>
        </p:spPr>
      </p:pic>
      <p:pic>
        <p:nvPicPr>
          <p:cNvPr id="5" name="Content Placeholder 5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D7AF7276-4ACF-F14E-09BD-D4F0A33E70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374960" y="1770989"/>
            <a:ext cx="293715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31E03-90B0-2A44-02C7-42BC65E34090}"/>
              </a:ext>
            </a:extLst>
          </p:cNvPr>
          <p:cNvSpPr txBox="1"/>
          <p:nvPr/>
        </p:nvSpPr>
        <p:spPr>
          <a:xfrm>
            <a:off x="756745" y="1481959"/>
            <a:ext cx="470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Structural metric vs. distance (not significant)</a:t>
            </a:r>
          </a:p>
        </p:txBody>
      </p:sp>
    </p:spTree>
    <p:extLst>
      <p:ext uri="{BB962C8B-B14F-4D97-AF65-F5344CB8AC3E}">
        <p14:creationId xmlns:p14="http://schemas.microsoft.com/office/powerpoint/2010/main" val="364622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604</Words>
  <Application>Microsoft Macintosh PowerPoint</Application>
  <PresentationFormat>Widescreen</PresentationFormat>
  <Paragraphs>86</Paragraphs>
  <Slides>13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Bight 2023 SAV update</vt:lpstr>
      <vt:lpstr>Last time </vt:lpstr>
      <vt:lpstr>This time</vt:lpstr>
      <vt:lpstr>Major findings</vt:lpstr>
      <vt:lpstr>PowerPoint Presentation</vt:lpstr>
      <vt:lpstr>PowerPoint Presentation</vt:lpstr>
      <vt:lpstr>Function scores vs potential environmental drivers</vt:lpstr>
      <vt:lpstr>Distance to inlet vs. water quality condition</vt:lpstr>
      <vt:lpstr>Site-specific information</vt:lpstr>
      <vt:lpstr>Site-specific water quality condition</vt:lpstr>
      <vt:lpstr>PowerPoint Presentation</vt:lpstr>
      <vt:lpstr>Site-specific eelgrass condition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 Tupitza</dc:creator>
  <cp:lastModifiedBy>Jill Tupitza</cp:lastModifiedBy>
  <cp:revision>1</cp:revision>
  <dcterms:created xsi:type="dcterms:W3CDTF">2026-01-15T14:29:01Z</dcterms:created>
  <dcterms:modified xsi:type="dcterms:W3CDTF">2026-01-15T22:28:02Z</dcterms:modified>
</cp:coreProperties>
</file>