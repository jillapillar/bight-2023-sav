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1" r:id="rId3"/>
    <p:sldId id="262" r:id="rId4"/>
    <p:sldId id="299" r:id="rId5"/>
    <p:sldId id="300" r:id="rId6"/>
    <p:sldId id="297" r:id="rId7"/>
    <p:sldId id="263" r:id="rId8"/>
    <p:sldId id="259" r:id="rId9"/>
    <p:sldId id="258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7" r:id="rId21"/>
    <p:sldId id="278" r:id="rId22"/>
    <p:sldId id="279" r:id="rId23"/>
    <p:sldId id="275" r:id="rId24"/>
    <p:sldId id="276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A5FD3F-3078-E74F-9F03-F318664B3EEF}" v="3" dt="2026-01-20T22:32:27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27"/>
  </p:normalViewPr>
  <p:slideViewPr>
    <p:cSldViewPr snapToGrid="0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-6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8C599-FF07-6F4E-90F2-C8655DAAE9A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C7763-47B4-964B-9F57-610D09BC6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slides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C7763-47B4-964B-9F57-610D09BC6E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74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slide </a:t>
            </a:r>
            <a:r>
              <a:rPr lang="en-US" dirty="0" err="1"/>
              <a:t>sset</a:t>
            </a:r>
            <a:r>
              <a:rPr lang="en-US" dirty="0"/>
              <a:t> up graphic – initial conclusions before figure – conclusion as title to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C7763-47B4-964B-9F57-610D09BC6E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3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dirty="0"/>
              <a:t>Caveat</a:t>
            </a:r>
            <a:r>
              <a:rPr lang="en-US" sz="1200" dirty="0"/>
              <a:t>: Not very sensitive to subtle differences in ecosystem function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42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representation of points further away in large </a:t>
            </a:r>
            <a:r>
              <a:rPr lang="en-US" dirty="0" err="1"/>
              <a:t>embayments</a:t>
            </a:r>
            <a:r>
              <a:rPr lang="en-US" dirty="0"/>
              <a:t>, combined with lesser marine influence and lower flushing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C7763-47B4-964B-9F57-610D09BC6E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31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-Potential drivers that had no effect: species, site protection status, inlet status (all open).</a:t>
            </a:r>
          </a:p>
          <a:p>
            <a:r>
              <a:rPr lang="en-US" dirty="0"/>
              <a:t>-not finished: scrubbing historical Caulerpa maps for a “within 1 km of a known infestation” – still in progress</a:t>
            </a:r>
          </a:p>
          <a:p>
            <a:r>
              <a:rPr lang="en-US" dirty="0"/>
              <a:t>Most of our sites are WITHIN water bodies. Further away means closer to headwaters. This relationship makes sense. Small </a:t>
            </a:r>
            <a:r>
              <a:rPr lang="en-US" dirty="0" err="1"/>
              <a:t>embayments</a:t>
            </a:r>
            <a:r>
              <a:rPr lang="en-US" dirty="0"/>
              <a:t> tidal flushing period is short, large </a:t>
            </a:r>
            <a:r>
              <a:rPr lang="en-US" dirty="0" err="1"/>
              <a:t>embaryments</a:t>
            </a:r>
            <a:r>
              <a:rPr lang="en-US" dirty="0"/>
              <a:t> are longer. Estuaries are not very sensitive to this (why?)</a:t>
            </a:r>
          </a:p>
          <a:p>
            <a:r>
              <a:rPr lang="en-US" dirty="0"/>
              <a:t>-Estuaries are lowest – why is this? Shape may come into play.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77B-2851-DE49-87BB-AFA0344483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72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Protection could enhance overall scores or ecosystem function</a:t>
            </a:r>
          </a:p>
          <a:p>
            <a:r>
              <a:rPr lang="en-US" dirty="0"/>
              <a:t>This tool could/should be applied to coastal eelgrass beds – </a:t>
            </a:r>
          </a:p>
          <a:p>
            <a:r>
              <a:rPr lang="en-US" dirty="0"/>
              <a:t>Methods stuff – </a:t>
            </a:r>
          </a:p>
          <a:p>
            <a:r>
              <a:rPr lang="en-US" dirty="0"/>
              <a:t>Don’t recommend tool validation – put it in the discussion</a:t>
            </a:r>
          </a:p>
          <a:p>
            <a:r>
              <a:rPr lang="en-US" dirty="0"/>
              <a:t>Mapping extent – helps with site recon</a:t>
            </a:r>
          </a:p>
          <a:p>
            <a:r>
              <a:rPr lang="en-US" dirty="0"/>
              <a:t>Having trend patterns for this highly ephemeral organism </a:t>
            </a:r>
          </a:p>
          <a:p>
            <a:r>
              <a:rPr lang="en-US" dirty="0"/>
              <a:t>Throw </a:t>
            </a:r>
            <a:r>
              <a:rPr lang="en-US"/>
              <a:t>them straw dogs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C7763-47B4-964B-9F57-610D09BC6E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78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994A4-367A-C949-E14F-11F1DD30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87E6B-BAF0-C700-F4D6-94626D6A6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2E370-E550-40FD-1608-3802DA97E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rough order of events are to :</a:t>
            </a:r>
            <a:endParaRPr lang="en-US" dirty="0">
              <a:solidFill>
                <a:srgbClr val="444444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dirty="0"/>
              <a:t>Complete data submission</a:t>
            </a:r>
            <a:endParaRPr lang="en-US" dirty="0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Committee reviews the data – with potential meeting review the reviews/questions</a:t>
            </a:r>
            <a:endParaRPr lang="en-US" dirty="0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Complete initial data analyses w/ initial review via email 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Complete draft final analyses based on review of initial analyses (plus any additions) with a meeting to walk through analyses and form conclusions and </a:t>
            </a:r>
            <a:r>
              <a:rPr lang="en-US" dirty="0" err="1"/>
              <a:t>reccommendations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Begin report writing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Hold meeting to discuss SOPs and potential revisions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Hold meeting (as necessary) to review draft report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Present to Bight Oversight Committee</a:t>
            </a:r>
            <a:endParaRPr lang="en-US">
              <a:solidFill>
                <a:srgbClr val="444444"/>
              </a:solidFill>
            </a:endParaRPr>
          </a:p>
          <a:p>
            <a:pPr marL="228600" indent="-228600">
              <a:buAutoNum type="arabicPeriod"/>
            </a:pPr>
            <a:r>
              <a:rPr lang="en-US" dirty="0"/>
              <a:t>Finalize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5912E-C9B2-108F-E59D-8F917C5DD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2C145-2552-C741-BB60-C8F323548D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1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BA81-03D8-2447-2C96-3EA3A9828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13648-5024-3862-3B73-A22B30E0D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6F7D2-A851-FB8A-B6AC-13BC380D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2E990-B0AE-9ADA-C3D3-E943CAD7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8B31C-5C70-B3B7-680F-9C034BB4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9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1892-2052-4EA9-B157-40577E99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84F7-135A-2EC3-0A95-A712BA3C2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03F3A-4912-FBEB-7197-FB912094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B8B92-D4C7-22E9-DEF8-8C0C2CE4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878D2-B422-6A6D-1BE9-0C0F2E8D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5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F7229-99ED-1337-A6BA-FD28CFEA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63326-CB9E-5327-0735-D1113410D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529E-8B5E-663E-EB0E-85FE7A51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D04FA-D5B9-E40A-0454-5494CBD3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DFAAE-1F75-48D9-EB5B-1A119B30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0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E844-32F2-A812-1494-3014266C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AECC-B2A9-9034-22EE-C4C3B3556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4EBB9-2F18-14AB-9C61-9A807E9BF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B2672-1BBC-B70D-2828-F95C0192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F1BE7-ABB3-7BF7-7B3F-177EE789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6FF36-B2AA-0488-3ED2-B7948A42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7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12BD-89CD-F88F-F4F4-AD79AB967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F7ACF-0F9F-4ACF-7FB7-9748BBDB4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8DB46-9FB0-D0E8-354E-7A96AA5CD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08C28-E7F0-0924-CB3E-A0C18988A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9816B-BAEB-F251-3705-E77E6C13A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C0691-28E3-574F-A503-9BF9F3995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F8953-E972-329D-49FC-7E02E7F6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0FC13-0FB2-436D-6FBD-28B87CBE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54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B1B0-A883-8244-CCAD-376522C7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CC29A-6DB1-016D-5C30-6FE55705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9FF2A-1662-6068-FE12-DED0446E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4DBD4-10E8-107C-085C-64F292D5E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0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E21CD-DF07-1CEC-1777-045C2F10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015C8D-D8F4-7FAF-B224-D93E5181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0D6AB-6985-F9E0-758D-4FC5ACDB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0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58A6-2963-FB9D-706E-E96C7637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79CE-F654-2A45-BAE3-94B2A7D3B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D4DB-EDF7-B918-2B14-19BECE1D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C23F1-47E7-4CBF-C0FC-3405F3EDA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D3921-EA0A-53EA-30FE-1DA7C875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A6CD6-54CC-B6DA-199D-B733C467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8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9DF5-1C54-AD97-7AAE-73D20173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B139DA-BFB5-C8CE-CEEF-F03715AB5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312F1-BBA5-C2DD-748F-C6AC7CE46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3E298-47C5-CC30-E8F0-3C793AA57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E8264-4232-B26D-4B16-6CC56552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5F5E7-12F1-42D3-61C7-22E8581C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4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791E-B14D-175A-E088-5356826B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81CA9-9C0F-8CC5-EE7F-491418AF7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231D9-D2BD-BE62-691C-DA268A36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AC955-716A-F46F-6FAC-9DCB3E8B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4F743-7D82-4885-B555-2B9BA9FC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8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59CF71-A7C8-179D-6787-D0686D1D5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67701-9CBE-CB4C-6719-34599E51C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49FD5-FC96-E25E-4ACC-40518FD0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69F6-22EA-66F9-C4CE-7B41CABE4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7E29B-0205-AC50-544D-7F3037E2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5DA08-591C-9FE2-17C2-2335FDD2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102F9-E9EE-5FE4-C14B-0CB2CB81F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5ED38-1166-9BD2-3781-0F0BCED64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EFB9C-7FC7-224C-8FC6-8B39E993A95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915FC-861C-38CF-E29F-69A7B3B6D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DCA4-3A37-1BBB-1BF0-1B9E8653A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42F12-DFBE-5F4C-9988-BF8096D1B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EB86-6C7B-6A13-041F-A1E369D26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Bight SAV Winter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FEA51-9598-957A-4BB0-127B47461D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Friday, Jan 23</a:t>
            </a:r>
            <a:r>
              <a:rPr lang="en-US" baseline="30000" dirty="0"/>
              <a:t>rd</a:t>
            </a:r>
            <a:r>
              <a:rPr lang="en-US" dirty="0"/>
              <a:t>, 2026</a:t>
            </a:r>
          </a:p>
          <a:p>
            <a:r>
              <a:rPr lang="en-US" baseline="30000" dirty="0"/>
              <a:t>10:00am – 12:00pm PT</a:t>
            </a:r>
          </a:p>
          <a:p>
            <a:r>
              <a:rPr lang="en-US" baseline="30000" dirty="0"/>
              <a:t>Teams link: </a:t>
            </a:r>
          </a:p>
          <a:p>
            <a:r>
              <a:rPr lang="en-US" baseline="300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3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EEE24-F387-9CD3-211B-9A813DE2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F90BF-F207-4A2D-17E4-4F104B3400ED}"/>
              </a:ext>
            </a:extLst>
          </p:cNvPr>
          <p:cNvSpPr txBox="1"/>
          <p:nvPr/>
        </p:nvSpPr>
        <p:spPr>
          <a:xfrm>
            <a:off x="838200" y="1988375"/>
            <a:ext cx="884182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Wrap up data QA/QC </a:t>
            </a:r>
          </a:p>
          <a:p>
            <a:pPr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Discuss results and interpretation of data analysis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Primary analysis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Secondary </a:t>
            </a:r>
            <a:r>
              <a:rPr lang="en-US" sz="3200" dirty="0">
                <a:solidFill>
                  <a:srgbClr val="000000"/>
                </a:solidFill>
                <a:latin typeface="Aptos" panose="020B0004020202020204" pitchFamily="34" charset="0"/>
              </a:rPr>
              <a:t>analysis + appendix material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Brainstorming conclusions + recommendations to include in Bight Report</a:t>
            </a:r>
          </a:p>
        </p:txBody>
      </p:sp>
    </p:spTree>
    <p:extLst>
      <p:ext uri="{BB962C8B-B14F-4D97-AF65-F5344CB8AC3E}">
        <p14:creationId xmlns:p14="http://schemas.microsoft.com/office/powerpoint/2010/main" val="2041171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C9B1CF-2A6F-D722-5FB8-D08C331B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QA/QC</a:t>
            </a:r>
          </a:p>
        </p:txBody>
      </p:sp>
    </p:spTree>
    <p:extLst>
      <p:ext uri="{BB962C8B-B14F-4D97-AF65-F5344CB8AC3E}">
        <p14:creationId xmlns:p14="http://schemas.microsoft.com/office/powerpoint/2010/main" val="46971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02E50-E041-556F-172D-BDFB3D83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9DE64-76BF-0726-2495-CF6368BB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QA/QC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DA094-FA31-57F5-AA91-A05FE5085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arenBoth"/>
            </a:pPr>
            <a:r>
              <a:rPr lang="en-US" dirty="0"/>
              <a:t>Request for “gut-check” QC measures</a:t>
            </a:r>
          </a:p>
          <a:p>
            <a:pPr marL="914400" lvl="1" indent="-457200">
              <a:buAutoNum type="arabicParenBoth"/>
            </a:pPr>
            <a:r>
              <a:rPr lang="en-US" dirty="0"/>
              <a:t>As Leaf Area increases, so too should Above Ground Biomass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81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4B7EE790-26D8-331F-2595-D8D7920D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021" y="242784"/>
            <a:ext cx="7352805" cy="6127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56F18F-4324-6584-5E7D-75F698AD6211}"/>
              </a:ext>
            </a:extLst>
          </p:cNvPr>
          <p:cNvSpPr txBox="1"/>
          <p:nvPr/>
        </p:nvSpPr>
        <p:spPr>
          <a:xfrm>
            <a:off x="344384" y="296883"/>
            <a:ext cx="3716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Leaf Area vs. Above Ground Biomass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018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7B54A-A45E-7E66-9497-88ED02ED9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EFB6BB-ECA2-E73E-D423-70E3D896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Analysis</a:t>
            </a:r>
          </a:p>
        </p:txBody>
      </p:sp>
    </p:spTree>
    <p:extLst>
      <p:ext uri="{BB962C8B-B14F-4D97-AF65-F5344CB8AC3E}">
        <p14:creationId xmlns:p14="http://schemas.microsoft.com/office/powerpoint/2010/main" val="307211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345E-EDA4-A733-0704-9BD8CAEE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5AD3A9-51C3-3E0E-E66C-94582FD0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F08E6-72E5-4C59-C6AC-E63D081D1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arenBoth"/>
            </a:pPr>
            <a:r>
              <a:rPr lang="en-US" dirty="0"/>
              <a:t>What is the condition of eelgrass across the region? </a:t>
            </a:r>
          </a:p>
          <a:p>
            <a:pPr marL="457200" indent="-457200">
              <a:buAutoNum type="arabicParenBoth"/>
            </a:pPr>
            <a:r>
              <a:rPr lang="en-US" dirty="0"/>
              <a:t>Does it differ by strata (small </a:t>
            </a:r>
            <a:r>
              <a:rPr lang="en-US" dirty="0" err="1"/>
              <a:t>embayments</a:t>
            </a:r>
            <a:r>
              <a:rPr lang="en-US" dirty="0"/>
              <a:t>, large </a:t>
            </a:r>
            <a:r>
              <a:rPr lang="en-US" dirty="0" err="1"/>
              <a:t>embayments</a:t>
            </a:r>
            <a:r>
              <a:rPr lang="en-US" dirty="0"/>
              <a:t> &amp; estuaries)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729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BC33A90-D79A-D1ED-D3F0-47105F8F0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80545" y="310055"/>
            <a:ext cx="6237890" cy="623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7F75BB-2D6E-77C9-2622-C9A59F94437C}"/>
              </a:ext>
            </a:extLst>
          </p:cNvPr>
          <p:cNvSpPr txBox="1"/>
          <p:nvPr/>
        </p:nvSpPr>
        <p:spPr>
          <a:xfrm>
            <a:off x="7451834" y="425669"/>
            <a:ext cx="38047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Area-weighted overall condition scores for eelgrass beds across Bight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 in overall moderate condition by stratum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/>
              <a:t>Good news</a:t>
            </a:r>
            <a:r>
              <a:rPr lang="en-US" sz="2800" dirty="0"/>
              <a:t>: Results are comparable to RESCQ survey</a:t>
            </a:r>
          </a:p>
        </p:txBody>
      </p:sp>
    </p:spTree>
    <p:extLst>
      <p:ext uri="{BB962C8B-B14F-4D97-AF65-F5344CB8AC3E}">
        <p14:creationId xmlns:p14="http://schemas.microsoft.com/office/powerpoint/2010/main" val="296247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ED86F8-EF62-01B6-6F80-A12E900713C6}"/>
              </a:ext>
            </a:extLst>
          </p:cNvPr>
          <p:cNvSpPr txBox="1"/>
          <p:nvPr/>
        </p:nvSpPr>
        <p:spPr>
          <a:xfrm>
            <a:off x="7567448" y="162910"/>
            <a:ext cx="3804745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OVERALL: Area-weighted function scores for eelgrass beds across Bight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Most (55% - 100%) area is in </a:t>
            </a:r>
            <a:r>
              <a:rPr lang="en-US" sz="2400" u="sng" dirty="0">
                <a:solidFill>
                  <a:srgbClr val="5358B3"/>
                </a:solidFill>
              </a:rPr>
              <a:t>Moderate</a:t>
            </a:r>
            <a:r>
              <a:rPr lang="en-US" sz="2400" dirty="0"/>
              <a:t> condition for all ecosystem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About 10-15% of area for all functions is in </a:t>
            </a:r>
            <a:r>
              <a:rPr lang="en-US" sz="2400" u="sng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Good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400" dirty="0"/>
              <a:t>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About 30-40% of area for all functions is in </a:t>
            </a:r>
            <a:r>
              <a:rPr lang="en-US" sz="2400" u="sng" dirty="0">
                <a:solidFill>
                  <a:schemeClr val="accent2">
                    <a:lumMod val="50000"/>
                  </a:schemeClr>
                </a:solidFill>
              </a:rPr>
              <a:t>Poor</a:t>
            </a:r>
            <a:r>
              <a:rPr lang="en-US" sz="2400" dirty="0"/>
              <a:t> 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AB493CD-CF43-58F6-56E0-9F471F7C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6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awing">
            <a:extLst>
              <a:ext uri="{FF2B5EF4-FFF2-40B4-BE49-F238E27FC236}">
                <a16:creationId xmlns:a16="http://schemas.microsoft.com/office/drawing/2014/main" id="{45CDCFB3-62E4-AB75-A09A-FE75DC144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759" y="86711"/>
            <a:ext cx="6660930" cy="6660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259547-9000-42E0-3361-6C62B1408EDB}"/>
              </a:ext>
            </a:extLst>
          </p:cNvPr>
          <p:cNvSpPr txBox="1"/>
          <p:nvPr/>
        </p:nvSpPr>
        <p:spPr>
          <a:xfrm>
            <a:off x="7483365" y="270742"/>
            <a:ext cx="359453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BY STRATUM: Area-weighted function scores for eelgrass beds across Bight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Small </a:t>
            </a:r>
            <a:r>
              <a:rPr lang="en-US" sz="2400" dirty="0" err="1"/>
              <a:t>embayments</a:t>
            </a:r>
            <a:r>
              <a:rPr lang="en-US" sz="2400" dirty="0"/>
              <a:t> have the highest percentage (65-100%) of area in Moderate condition for each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Estuaries have the most area(15-40%) in Good condition</a:t>
            </a:r>
          </a:p>
        </p:txBody>
      </p:sp>
    </p:spTree>
    <p:extLst>
      <p:ext uri="{BB962C8B-B14F-4D97-AF65-F5344CB8AC3E}">
        <p14:creationId xmlns:p14="http://schemas.microsoft.com/office/powerpoint/2010/main" val="63641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53AF-A365-4F7F-959B-D8856EA2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analyses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96480-4183-FADA-8184-F60A72AB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50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110D-167C-016B-B614-C3C191AED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7E87-4F07-D588-89AF-FFA6139C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analyses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8E46C-1FFD-8CC3-09A5-C4C6D1A82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Understanding relationships between index/function scores and potential environmental drivers</a:t>
            </a:r>
          </a:p>
        </p:txBody>
      </p:sp>
    </p:spTree>
    <p:extLst>
      <p:ext uri="{BB962C8B-B14F-4D97-AF65-F5344CB8AC3E}">
        <p14:creationId xmlns:p14="http://schemas.microsoft.com/office/powerpoint/2010/main" val="1279264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584822-A990-AACF-D546-C89DBA67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environmental drivers we discussed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77FF4E-8ECD-26BE-BFC0-79873B13F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3E672A-CDB5-CFE9-7841-EC9344563B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Distance to inlet</a:t>
            </a:r>
          </a:p>
          <a:p>
            <a:r>
              <a:rPr lang="en-US" dirty="0"/>
              <a:t>Site protection status</a:t>
            </a:r>
          </a:p>
          <a:p>
            <a:r>
              <a:rPr lang="en-US" dirty="0"/>
              <a:t>Inlet status (open/closed)</a:t>
            </a:r>
          </a:p>
          <a:p>
            <a:r>
              <a:rPr lang="en-US" dirty="0"/>
              <a:t>Depth</a:t>
            </a:r>
          </a:p>
          <a:p>
            <a:r>
              <a:rPr lang="en-US" dirty="0"/>
              <a:t>Sediment grain-size</a:t>
            </a:r>
          </a:p>
          <a:p>
            <a:r>
              <a:rPr lang="en-US" dirty="0"/>
              <a:t>Substratum physical quality</a:t>
            </a:r>
          </a:p>
          <a:p>
            <a:r>
              <a:rPr lang="en-US" dirty="0"/>
              <a:t>Natural vs restored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7B200B-4864-EC56-AA2C-FAB3C595B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25710" y="1681163"/>
            <a:ext cx="4029678" cy="823912"/>
          </a:xfrm>
        </p:spPr>
        <p:txBody>
          <a:bodyPr/>
          <a:lstStyle/>
          <a:p>
            <a:r>
              <a:rPr lang="en-US" dirty="0"/>
              <a:t>Ecosystem function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CB18E83-2B74-6828-FB1D-96FF538D3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41930" y="2505075"/>
            <a:ext cx="4313457" cy="36845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Carbon sequestration</a:t>
            </a:r>
          </a:p>
          <a:p>
            <a:r>
              <a:rPr lang="en-US" dirty="0"/>
              <a:t>Substrate stabilization</a:t>
            </a:r>
          </a:p>
          <a:p>
            <a:r>
              <a:rPr lang="en-US" dirty="0"/>
              <a:t>Water quality</a:t>
            </a:r>
          </a:p>
          <a:p>
            <a:r>
              <a:rPr lang="en-US" dirty="0"/>
              <a:t>Nekton habitat</a:t>
            </a:r>
          </a:p>
          <a:p>
            <a:r>
              <a:rPr lang="en-US" dirty="0"/>
              <a:t>Waterfowl habitat</a:t>
            </a:r>
          </a:p>
          <a:p>
            <a:r>
              <a:rPr lang="en-US" dirty="0"/>
              <a:t>Primary production</a:t>
            </a:r>
          </a:p>
          <a:p>
            <a:r>
              <a:rPr lang="en-US" dirty="0"/>
              <a:t>Secondary production</a:t>
            </a:r>
          </a:p>
          <a:p>
            <a:r>
              <a:rPr lang="en-US" dirty="0"/>
              <a:t>OVERALL index score</a:t>
            </a:r>
          </a:p>
        </p:txBody>
      </p:sp>
    </p:spTree>
    <p:extLst>
      <p:ext uri="{BB962C8B-B14F-4D97-AF65-F5344CB8AC3E}">
        <p14:creationId xmlns:p14="http://schemas.microsoft.com/office/powerpoint/2010/main" val="331202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885D-B7B4-0769-A6D4-1BE0F98F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638409-2418-DE51-44B9-041F70D6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environmental drivers we discussed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45187E-350F-F76D-5774-303497F6D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08FE8F-3243-32BD-4354-92320BE57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6065509" cy="368458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Distance to inlet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Site protection status</a:t>
            </a:r>
          </a:p>
          <a:p>
            <a:r>
              <a:rPr lang="en-US" dirty="0"/>
              <a:t>Inlet status (open/closed) – </a:t>
            </a:r>
            <a:r>
              <a:rPr lang="en-US" dirty="0">
                <a:solidFill>
                  <a:schemeClr val="accent5"/>
                </a:solidFill>
              </a:rPr>
              <a:t>all open</a:t>
            </a:r>
          </a:p>
          <a:p>
            <a:r>
              <a:rPr lang="en-US" dirty="0"/>
              <a:t>Depth – </a:t>
            </a:r>
            <a:r>
              <a:rPr lang="en-US" dirty="0">
                <a:solidFill>
                  <a:schemeClr val="accent5"/>
                </a:solidFill>
              </a:rPr>
              <a:t>not significant</a:t>
            </a:r>
          </a:p>
          <a:p>
            <a:r>
              <a:rPr lang="en-US" dirty="0"/>
              <a:t>Sediment grain-size – </a:t>
            </a:r>
            <a:r>
              <a:rPr lang="en-US" dirty="0">
                <a:solidFill>
                  <a:srgbClr val="C00000"/>
                </a:solidFill>
              </a:rPr>
              <a:t>insufficient data</a:t>
            </a:r>
          </a:p>
          <a:p>
            <a:r>
              <a:rPr lang="en-US" dirty="0"/>
              <a:t>Substratum physical quality – </a:t>
            </a:r>
            <a:r>
              <a:rPr lang="en-US" dirty="0">
                <a:solidFill>
                  <a:srgbClr val="C00000"/>
                </a:solidFill>
              </a:rPr>
              <a:t>insufficient data</a:t>
            </a:r>
          </a:p>
          <a:p>
            <a:r>
              <a:rPr lang="en-US" dirty="0"/>
              <a:t>Natural vs restored – </a:t>
            </a:r>
            <a:r>
              <a:rPr lang="en-US" dirty="0">
                <a:solidFill>
                  <a:srgbClr val="C00000"/>
                </a:solidFill>
              </a:rPr>
              <a:t>insufficient data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F493ED-6583-B3BE-0A67-92308D5B5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94180" y="1690688"/>
            <a:ext cx="4277710" cy="823912"/>
          </a:xfrm>
        </p:spPr>
        <p:txBody>
          <a:bodyPr/>
          <a:lstStyle/>
          <a:p>
            <a:r>
              <a:rPr lang="en-US" dirty="0"/>
              <a:t>Ecosystem function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3F8AFD-AE91-815A-E91F-9746C02CB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99586" y="2505075"/>
            <a:ext cx="4155802" cy="36845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Carbon sequestration</a:t>
            </a:r>
          </a:p>
          <a:p>
            <a:r>
              <a:rPr lang="en-US" dirty="0"/>
              <a:t>Substrate stabilization</a:t>
            </a:r>
          </a:p>
          <a:p>
            <a:r>
              <a:rPr lang="en-US" dirty="0"/>
              <a:t>Water quality</a:t>
            </a:r>
          </a:p>
          <a:p>
            <a:r>
              <a:rPr lang="en-US" dirty="0"/>
              <a:t>Nekton habitat</a:t>
            </a:r>
          </a:p>
          <a:p>
            <a:r>
              <a:rPr lang="en-US" dirty="0"/>
              <a:t>Waterfowl habitat</a:t>
            </a:r>
          </a:p>
          <a:p>
            <a:r>
              <a:rPr lang="en-US" dirty="0"/>
              <a:t>Primary production</a:t>
            </a:r>
          </a:p>
          <a:p>
            <a:r>
              <a:rPr lang="en-US" dirty="0"/>
              <a:t>Secondary production</a:t>
            </a:r>
          </a:p>
          <a:p>
            <a:r>
              <a:rPr lang="en-US" dirty="0"/>
              <a:t>OVERALL index score</a:t>
            </a:r>
          </a:p>
        </p:txBody>
      </p:sp>
    </p:spTree>
    <p:extLst>
      <p:ext uri="{BB962C8B-B14F-4D97-AF65-F5344CB8AC3E}">
        <p14:creationId xmlns:p14="http://schemas.microsoft.com/office/powerpoint/2010/main" val="1370732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FCBE-E383-62E8-9E96-A138F340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1003"/>
          </a:xfrm>
        </p:spPr>
        <p:txBody>
          <a:bodyPr/>
          <a:lstStyle/>
          <a:p>
            <a:r>
              <a:rPr lang="en-US" dirty="0"/>
              <a:t>Distance to inlet vs. overall score</a:t>
            </a:r>
          </a:p>
        </p:txBody>
      </p:sp>
      <p:pic>
        <p:nvPicPr>
          <p:cNvPr id="10" name="Content Placeholder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EC862CD-5288-4822-016A-4D96422DA7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27834" y="1166128"/>
            <a:ext cx="5425966" cy="5425966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6B1D62-5530-656B-7579-1AC8A4C7E9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Overall index scores decrease with increasing distance from inlets, except in estuaries</a:t>
            </a:r>
          </a:p>
          <a:p>
            <a:r>
              <a:rPr lang="en-US" dirty="0"/>
              <a:t>Most pronounced effect in </a:t>
            </a:r>
            <a:r>
              <a:rPr lang="en-US" u="sng" dirty="0"/>
              <a:t>large </a:t>
            </a:r>
            <a:r>
              <a:rPr lang="en-US" u="sng" dirty="0" err="1"/>
              <a:t>embayments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902129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CF20-1FB1-20BF-26DF-C3231498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71"/>
            <a:ext cx="10515600" cy="1062805"/>
          </a:xfrm>
        </p:spPr>
        <p:txBody>
          <a:bodyPr/>
          <a:lstStyle/>
          <a:p>
            <a:r>
              <a:rPr lang="en-US" dirty="0"/>
              <a:t>Distance to inlet vs. water quality condition</a:t>
            </a:r>
          </a:p>
        </p:txBody>
      </p:sp>
      <p:pic>
        <p:nvPicPr>
          <p:cNvPr id="10" name="Content Placeholder 9" descr="A diagram of water quality function&#10;&#10;AI-generated content may be incorrect.">
            <a:extLst>
              <a:ext uri="{FF2B5EF4-FFF2-40B4-BE49-F238E27FC236}">
                <a16:creationId xmlns:a16="http://schemas.microsoft.com/office/drawing/2014/main" id="{F4F09EF2-6C1D-DC6B-7368-2377E131A2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82039" y="852295"/>
            <a:ext cx="6813557" cy="5852784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C7CA07D-C95C-B37B-FC4C-DA6D01563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390" y="1825625"/>
            <a:ext cx="4286992" cy="4351338"/>
          </a:xfrm>
        </p:spPr>
        <p:txBody>
          <a:bodyPr/>
          <a:lstStyle/>
          <a:p>
            <a:r>
              <a:rPr lang="en-US" dirty="0"/>
              <a:t>Water quality function scores increase with decreasing distance to inlet, </a:t>
            </a:r>
            <a:r>
              <a:rPr lang="en-US" u="sng" dirty="0"/>
              <a:t>especially in large </a:t>
            </a:r>
            <a:r>
              <a:rPr lang="en-US" u="sng" dirty="0" err="1"/>
              <a:t>embayments</a:t>
            </a:r>
            <a:r>
              <a:rPr lang="en-US" dirty="0"/>
              <a:t>.</a:t>
            </a:r>
          </a:p>
          <a:p>
            <a:r>
              <a:rPr lang="en-US" dirty="0"/>
              <a:t>Our the individual components of the index are responsive to a known gradient</a:t>
            </a:r>
          </a:p>
        </p:txBody>
      </p:sp>
    </p:spTree>
    <p:extLst>
      <p:ext uri="{BB962C8B-B14F-4D97-AF65-F5344CB8AC3E}">
        <p14:creationId xmlns:p14="http://schemas.microsoft.com/office/powerpoint/2010/main" val="209868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85-38DC-3657-856A-9F66864EE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972"/>
          </a:xfrm>
        </p:spPr>
        <p:txBody>
          <a:bodyPr/>
          <a:lstStyle/>
          <a:p>
            <a:r>
              <a:rPr lang="en-US" dirty="0"/>
              <a:t>Site protection status vs. overall score</a:t>
            </a:r>
          </a:p>
        </p:txBody>
      </p:sp>
      <p:pic>
        <p:nvPicPr>
          <p:cNvPr id="10" name="Content Placeholder 9" descr="A graph of a variety of data&#10;&#10;AI-generated content may be incorrect.">
            <a:extLst>
              <a:ext uri="{FF2B5EF4-FFF2-40B4-BE49-F238E27FC236}">
                <a16:creationId xmlns:a16="http://schemas.microsoft.com/office/drawing/2014/main" id="{8B1DB42D-1D20-7602-776F-E1A0741B16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1688" y="1231815"/>
            <a:ext cx="5418113" cy="5418113"/>
          </a:xfr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A2FB840-09DD-8FF2-2C23-C5084E352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31815"/>
            <a:ext cx="5181600" cy="4945148"/>
          </a:xfrm>
        </p:spPr>
        <p:txBody>
          <a:bodyPr/>
          <a:lstStyle/>
          <a:p>
            <a:r>
              <a:rPr lang="en-US" b="1" dirty="0"/>
              <a:t>Protected sites </a:t>
            </a:r>
            <a:r>
              <a:rPr lang="en-US" dirty="0"/>
              <a:t>had significantly (***)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higher</a:t>
            </a:r>
            <a:r>
              <a:rPr lang="en-US" dirty="0"/>
              <a:t> eelgrass index scores than unprotected sites</a:t>
            </a:r>
          </a:p>
          <a:p>
            <a:r>
              <a:rPr lang="en-US" dirty="0"/>
              <a:t>EXCEPT for in large </a:t>
            </a:r>
            <a:r>
              <a:rPr lang="en-US" dirty="0" err="1"/>
              <a:t>embayments</a:t>
            </a:r>
            <a:r>
              <a:rPr lang="en-US" dirty="0"/>
              <a:t>, which had no sites in protected areas</a:t>
            </a:r>
          </a:p>
          <a:p>
            <a:r>
              <a:rPr lang="en-US" dirty="0"/>
              <a:t>Note that some site protection status was undetermined</a:t>
            </a:r>
          </a:p>
        </p:txBody>
      </p:sp>
    </p:spTree>
    <p:extLst>
      <p:ext uri="{BB962C8B-B14F-4D97-AF65-F5344CB8AC3E}">
        <p14:creationId xmlns:p14="http://schemas.microsoft.com/office/powerpoint/2010/main" val="2181030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5D52-DA1A-7C17-D939-96753674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C7D0-563E-2467-1DEF-E020CC459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992"/>
          </a:xfrm>
        </p:spPr>
        <p:txBody>
          <a:bodyPr/>
          <a:lstStyle/>
          <a:p>
            <a:r>
              <a:rPr lang="en-US" dirty="0"/>
              <a:t>Site protection status vs. ecosystem function</a:t>
            </a:r>
          </a:p>
        </p:txBody>
      </p:sp>
      <p:pic>
        <p:nvPicPr>
          <p:cNvPr id="8" name="Content Placeholder 7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557D9DA7-454F-1FD1-33D5-5384A4A913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1091255"/>
            <a:ext cx="5257801" cy="5257801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2C8DA-9696-9520-4061-386B1B5C8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9200"/>
            <a:ext cx="5181600" cy="4957763"/>
          </a:xfrm>
        </p:spPr>
        <p:txBody>
          <a:bodyPr/>
          <a:lstStyle/>
          <a:p>
            <a:r>
              <a:rPr lang="en-US" b="1" dirty="0"/>
              <a:t>Protected sites </a:t>
            </a:r>
            <a:r>
              <a:rPr lang="en-US" dirty="0"/>
              <a:t>had significantly (*)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higher</a:t>
            </a:r>
            <a:r>
              <a:rPr lang="en-US" dirty="0"/>
              <a:t> ecosystem function scores for Nekton Habitat, Primary Production, Substrate Stabilization, and Water Quality than Unprotected sites</a:t>
            </a:r>
          </a:p>
          <a:p>
            <a:r>
              <a:rPr lang="en-US" dirty="0"/>
              <a:t>Another line of evidence that our tool is discriminating between good/bad sites</a:t>
            </a:r>
          </a:p>
        </p:txBody>
      </p:sp>
    </p:spTree>
    <p:extLst>
      <p:ext uri="{BB962C8B-B14F-4D97-AF65-F5344CB8AC3E}">
        <p14:creationId xmlns:p14="http://schemas.microsoft.com/office/powerpoint/2010/main" val="2580995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C8BA-331F-1F44-5EAA-FEE72CF1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items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313BF-4B82-4666-65D7-873564B97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material</a:t>
            </a:r>
          </a:p>
        </p:txBody>
      </p:sp>
    </p:spTree>
    <p:extLst>
      <p:ext uri="{BB962C8B-B14F-4D97-AF65-F5344CB8AC3E}">
        <p14:creationId xmlns:p14="http://schemas.microsoft.com/office/powerpoint/2010/main" val="2498186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6B032-5A45-EDB9-1506-0A3C8C73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48929-E9EA-85C5-E5EB-82D6C3D39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10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5831-0C7B-FEA1-FA20-2DF8F06C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02F6-A150-7571-7E38-7B020A5967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is info for ecosystem managers</a:t>
            </a:r>
          </a:p>
          <a:p>
            <a:r>
              <a:rPr lang="en-US" dirty="0"/>
              <a:t>What would be the most useful format for them?</a:t>
            </a:r>
          </a:p>
          <a:p>
            <a:r>
              <a:rPr lang="en-US" dirty="0"/>
              <a:t>What type of data are they looking for?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B7791-9084-ED3E-5FFD-06E1E63241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92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3450-4DEE-7706-6D15-7DB720B4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material: one or both options?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25C4A-E5ED-5589-8311-8C7D6504D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B35F7-034E-71E3-8EFC-5E5FA9BD7C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Maps</a:t>
            </a:r>
          </a:p>
          <a:p>
            <a:pPr lvl="1"/>
            <a:r>
              <a:rPr lang="en-US" dirty="0"/>
              <a:t>Index score</a:t>
            </a:r>
          </a:p>
          <a:p>
            <a:pPr lvl="1"/>
            <a:r>
              <a:rPr lang="en-US" dirty="0"/>
              <a:t>Ecosystem function scores (x7)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469CF-66E9-9247-F087-90AF980BC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Option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5B95BE-BFA4-F94F-D5DB-261C625AC5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  <a:p>
            <a:pPr lvl="1"/>
            <a:r>
              <a:rPr lang="en-US" dirty="0"/>
              <a:t>Grouped by stratum</a:t>
            </a:r>
          </a:p>
          <a:p>
            <a:pPr lvl="1"/>
            <a:r>
              <a:rPr lang="en-US" dirty="0"/>
              <a:t>Grouped by waterbody (useful for managers)</a:t>
            </a:r>
          </a:p>
        </p:txBody>
      </p:sp>
    </p:spTree>
    <p:extLst>
      <p:ext uri="{BB962C8B-B14F-4D97-AF65-F5344CB8AC3E}">
        <p14:creationId xmlns:p14="http://schemas.microsoft.com/office/powerpoint/2010/main" val="1901806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D9CC-AED6-D41B-5125-30CB2E15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Bight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A6DD-D444-EB01-5494-410AD8AC3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74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8E62-0422-DCCA-C682-6464ADF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997D5-B4F9-47BC-54BE-7937933F1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15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A9B9-AF58-BF6B-04A7-E319D513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cess 6">
            <a:extLst>
              <a:ext uri="{FF2B5EF4-FFF2-40B4-BE49-F238E27FC236}">
                <a16:creationId xmlns:a16="http://schemas.microsoft.com/office/drawing/2014/main" id="{20AB7872-F36F-7387-90B9-C3FDE7134BED}"/>
              </a:ext>
            </a:extLst>
          </p:cNvPr>
          <p:cNvSpPr/>
          <p:nvPr/>
        </p:nvSpPr>
        <p:spPr>
          <a:xfrm>
            <a:off x="170709" y="397899"/>
            <a:ext cx="11837505" cy="1180585"/>
          </a:xfrm>
          <a:prstGeom prst="flowChartProcess">
            <a:avLst/>
          </a:prstGeom>
          <a:solidFill>
            <a:srgbClr val="494B3D">
              <a:alpha val="57000"/>
            </a:srgbClr>
          </a:solidFill>
          <a:ln>
            <a:solidFill>
              <a:srgbClr val="D6FF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4A187-05FD-78BC-EA29-69E005EDA9B2}"/>
              </a:ext>
            </a:extLst>
          </p:cNvPr>
          <p:cNvSpPr txBox="1"/>
          <p:nvPr/>
        </p:nvSpPr>
        <p:spPr>
          <a:xfrm>
            <a:off x="443265" y="582851"/>
            <a:ext cx="6627043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Project timeline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E57643-B77A-435B-A25C-3D1DDB79C22B}"/>
              </a:ext>
            </a:extLst>
          </p:cNvPr>
          <p:cNvGrpSpPr/>
          <p:nvPr/>
        </p:nvGrpSpPr>
        <p:grpSpPr>
          <a:xfrm>
            <a:off x="21991" y="4988418"/>
            <a:ext cx="11851400" cy="1483034"/>
            <a:chOff x="-93028" y="3881361"/>
            <a:chExt cx="11851400" cy="1483034"/>
          </a:xfrm>
        </p:grpSpPr>
        <p:cxnSp>
          <p:nvCxnSpPr>
            <p:cNvPr id="875" name="Straight Arrow Connector 874">
              <a:extLst>
                <a:ext uri="{FF2B5EF4-FFF2-40B4-BE49-F238E27FC236}">
                  <a16:creationId xmlns:a16="http://schemas.microsoft.com/office/drawing/2014/main" id="{E24570DD-0AE5-BC02-D9B6-54480FD2C105}"/>
                </a:ext>
              </a:extLst>
            </p:cNvPr>
            <p:cNvCxnSpPr/>
            <p:nvPr/>
          </p:nvCxnSpPr>
          <p:spPr>
            <a:xfrm>
              <a:off x="271157" y="3944108"/>
              <a:ext cx="11487215" cy="123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6" name="Flowchart: Connector 875">
              <a:extLst>
                <a:ext uri="{FF2B5EF4-FFF2-40B4-BE49-F238E27FC236}">
                  <a16:creationId xmlns:a16="http://schemas.microsoft.com/office/drawing/2014/main" id="{76096191-12B2-A4A1-5E49-E08C5C2725AF}"/>
                </a:ext>
              </a:extLst>
            </p:cNvPr>
            <p:cNvSpPr/>
            <p:nvPr/>
          </p:nvSpPr>
          <p:spPr>
            <a:xfrm>
              <a:off x="376420" y="3881362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ea typeface="Calibri"/>
                  <a:cs typeface="Calibri"/>
                </a:rPr>
                <a:t>c</a:t>
              </a:r>
              <a:endParaRPr lang="en-US"/>
            </a:p>
          </p:txBody>
        </p:sp>
        <p:sp>
          <p:nvSpPr>
            <p:cNvPr id="877" name="Flowchart: Connector 876">
              <a:extLst>
                <a:ext uri="{FF2B5EF4-FFF2-40B4-BE49-F238E27FC236}">
                  <a16:creationId xmlns:a16="http://schemas.microsoft.com/office/drawing/2014/main" id="{108C344E-8047-E699-C706-47AD59015DE6}"/>
                </a:ext>
              </a:extLst>
            </p:cNvPr>
            <p:cNvSpPr/>
            <p:nvPr/>
          </p:nvSpPr>
          <p:spPr>
            <a:xfrm>
              <a:off x="3407610" y="3914979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Flowchart: Connector 878">
              <a:extLst>
                <a:ext uri="{FF2B5EF4-FFF2-40B4-BE49-F238E27FC236}">
                  <a16:creationId xmlns:a16="http://schemas.microsoft.com/office/drawing/2014/main" id="{31C8D443-FB6D-611A-D1BF-471600EB59C0}"/>
                </a:ext>
              </a:extLst>
            </p:cNvPr>
            <p:cNvSpPr/>
            <p:nvPr/>
          </p:nvSpPr>
          <p:spPr>
            <a:xfrm>
              <a:off x="6097023" y="3881361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Flowchart: Connector 883">
              <a:extLst>
                <a:ext uri="{FF2B5EF4-FFF2-40B4-BE49-F238E27FC236}">
                  <a16:creationId xmlns:a16="http://schemas.microsoft.com/office/drawing/2014/main" id="{CD495CBA-86FA-5BFD-A795-F4E5C233F032}"/>
                </a:ext>
              </a:extLst>
            </p:cNvPr>
            <p:cNvSpPr/>
            <p:nvPr/>
          </p:nvSpPr>
          <p:spPr>
            <a:xfrm>
              <a:off x="9094596" y="3881361"/>
              <a:ext cx="135578" cy="135578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TextBox 890">
              <a:extLst>
                <a:ext uri="{FF2B5EF4-FFF2-40B4-BE49-F238E27FC236}">
                  <a16:creationId xmlns:a16="http://schemas.microsoft.com/office/drawing/2014/main" id="{81CDE87F-013F-C584-9CD9-61CDA5A52835}"/>
                </a:ext>
              </a:extLst>
            </p:cNvPr>
            <p:cNvSpPr txBox="1"/>
            <p:nvPr/>
          </p:nvSpPr>
          <p:spPr>
            <a:xfrm rot="19140000">
              <a:off x="-93028" y="4373261"/>
              <a:ext cx="173795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June/ July 2025</a:t>
              </a:r>
            </a:p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892" name="TextBox 891">
              <a:extLst>
                <a:ext uri="{FF2B5EF4-FFF2-40B4-BE49-F238E27FC236}">
                  <a16:creationId xmlns:a16="http://schemas.microsoft.com/office/drawing/2014/main" id="{B4265817-7DA8-4593-D47D-496C9060F3EC}"/>
                </a:ext>
              </a:extLst>
            </p:cNvPr>
            <p:cNvSpPr txBox="1"/>
            <p:nvPr/>
          </p:nvSpPr>
          <p:spPr>
            <a:xfrm rot="19140000">
              <a:off x="2325548" y="4441065"/>
              <a:ext cx="205941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August/September 2025</a:t>
              </a:r>
            </a:p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893" name="TextBox 892">
              <a:extLst>
                <a:ext uri="{FF2B5EF4-FFF2-40B4-BE49-F238E27FC236}">
                  <a16:creationId xmlns:a16="http://schemas.microsoft.com/office/drawing/2014/main" id="{5BE53647-E665-F5AE-D6D4-12BDD08597D5}"/>
                </a:ext>
              </a:extLst>
            </p:cNvPr>
            <p:cNvSpPr txBox="1"/>
            <p:nvPr/>
          </p:nvSpPr>
          <p:spPr>
            <a:xfrm rot="19140000">
              <a:off x="5145721" y="4507730"/>
              <a:ext cx="173795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January 2026</a:t>
              </a:r>
            </a:p>
            <a:p>
              <a:endParaRPr lang="en-US">
                <a:ea typeface="Calibri"/>
                <a:cs typeface="Calibri"/>
              </a:endParaRPr>
            </a:p>
          </p:txBody>
        </p:sp>
        <p:sp>
          <p:nvSpPr>
            <p:cNvPr id="894" name="TextBox 893">
              <a:extLst>
                <a:ext uri="{FF2B5EF4-FFF2-40B4-BE49-F238E27FC236}">
                  <a16:creationId xmlns:a16="http://schemas.microsoft.com/office/drawing/2014/main" id="{CB17C28C-EB65-8F64-D10D-39E4745DC2CD}"/>
                </a:ext>
              </a:extLst>
            </p:cNvPr>
            <p:cNvSpPr txBox="1"/>
            <p:nvPr/>
          </p:nvSpPr>
          <p:spPr>
            <a:xfrm rot="19140000">
              <a:off x="8479470" y="4249994"/>
              <a:ext cx="1737951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February 2026</a:t>
              </a:r>
              <a:endParaRPr lang="en-US"/>
            </a:p>
            <a:p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0FD8F45-1CB5-571A-98C1-BAEDD1B2B8FD}"/>
              </a:ext>
            </a:extLst>
          </p:cNvPr>
          <p:cNvGrpSpPr/>
          <p:nvPr/>
        </p:nvGrpSpPr>
        <p:grpSpPr>
          <a:xfrm>
            <a:off x="1385304" y="2167263"/>
            <a:ext cx="10335027" cy="2698957"/>
            <a:chOff x="1327795" y="1088961"/>
            <a:chExt cx="10335027" cy="2698957"/>
          </a:xfrm>
        </p:grpSpPr>
        <p:sp>
          <p:nvSpPr>
            <p:cNvPr id="883" name="Callout: Bent Line 882">
              <a:extLst>
                <a:ext uri="{FF2B5EF4-FFF2-40B4-BE49-F238E27FC236}">
                  <a16:creationId xmlns:a16="http://schemas.microsoft.com/office/drawing/2014/main" id="{BD892D13-2BE1-7277-EA40-05C39766FEFD}"/>
                </a:ext>
              </a:extLst>
            </p:cNvPr>
            <p:cNvSpPr/>
            <p:nvPr/>
          </p:nvSpPr>
          <p:spPr>
            <a:xfrm>
              <a:off x="1327795" y="2327210"/>
              <a:ext cx="1717705" cy="570279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Status update meeting</a:t>
              </a:r>
            </a:p>
          </p:txBody>
        </p:sp>
        <p:sp>
          <p:nvSpPr>
            <p:cNvPr id="885" name="Callout: Bent Line 884">
              <a:extLst>
                <a:ext uri="{FF2B5EF4-FFF2-40B4-BE49-F238E27FC236}">
                  <a16:creationId xmlns:a16="http://schemas.microsoft.com/office/drawing/2014/main" id="{6BD619CC-D679-40D5-7E27-F7EAE395936C}"/>
                </a:ext>
              </a:extLst>
            </p:cNvPr>
            <p:cNvSpPr/>
            <p:nvPr/>
          </p:nvSpPr>
          <p:spPr>
            <a:xfrm>
              <a:off x="1327795" y="3044386"/>
              <a:ext cx="1717705" cy="570279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Gather all SAV field/lab data</a:t>
              </a:r>
            </a:p>
          </p:txBody>
        </p:sp>
        <p:sp>
          <p:nvSpPr>
            <p:cNvPr id="886" name="Callout: Bent Line 885">
              <a:extLst>
                <a:ext uri="{FF2B5EF4-FFF2-40B4-BE49-F238E27FC236}">
                  <a16:creationId xmlns:a16="http://schemas.microsoft.com/office/drawing/2014/main" id="{B665F1FA-986D-1A51-1A5F-75445FF5838A}"/>
                </a:ext>
              </a:extLst>
            </p:cNvPr>
            <p:cNvSpPr/>
            <p:nvPr/>
          </p:nvSpPr>
          <p:spPr>
            <a:xfrm>
              <a:off x="4235722" y="1088961"/>
              <a:ext cx="1734513" cy="1808528"/>
            </a:xfrm>
            <a:prstGeom prst="borderCallout2">
              <a:avLst/>
            </a:prstGeom>
            <a:solidFill>
              <a:srgbClr val="F2EF2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Key graphics created, preliminary analysis complete</a:t>
              </a:r>
            </a:p>
          </p:txBody>
        </p:sp>
        <p:sp>
          <p:nvSpPr>
            <p:cNvPr id="887" name="Callout: Bent Line 886">
              <a:extLst>
                <a:ext uri="{FF2B5EF4-FFF2-40B4-BE49-F238E27FC236}">
                  <a16:creationId xmlns:a16="http://schemas.microsoft.com/office/drawing/2014/main" id="{46DF4A3A-A848-0399-4053-CFF3620AEF55}"/>
                </a:ext>
              </a:extLst>
            </p:cNvPr>
            <p:cNvSpPr/>
            <p:nvPr/>
          </p:nvSpPr>
          <p:spPr>
            <a:xfrm>
              <a:off x="9945117" y="3044385"/>
              <a:ext cx="1717705" cy="570279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Wrap up meeting</a:t>
              </a:r>
            </a:p>
          </p:txBody>
        </p:sp>
        <p:sp>
          <p:nvSpPr>
            <p:cNvPr id="888" name="Callout: Bent Line 887">
              <a:extLst>
                <a:ext uri="{FF2B5EF4-FFF2-40B4-BE49-F238E27FC236}">
                  <a16:creationId xmlns:a16="http://schemas.microsoft.com/office/drawing/2014/main" id="{510B603C-56E8-BFAB-3E2E-D01A1AD0AE42}"/>
                </a:ext>
              </a:extLst>
            </p:cNvPr>
            <p:cNvSpPr/>
            <p:nvPr/>
          </p:nvSpPr>
          <p:spPr>
            <a:xfrm>
              <a:off x="6881157" y="3044385"/>
              <a:ext cx="1806504" cy="570279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SOP Revisions Discussion</a:t>
              </a:r>
            </a:p>
          </p:txBody>
        </p:sp>
        <p:sp>
          <p:nvSpPr>
            <p:cNvPr id="889" name="Callout: Bent Line 888">
              <a:extLst>
                <a:ext uri="{FF2B5EF4-FFF2-40B4-BE49-F238E27FC236}">
                  <a16:creationId xmlns:a16="http://schemas.microsoft.com/office/drawing/2014/main" id="{918ED200-3E68-E4A4-CCA9-A0B1A69EA432}"/>
                </a:ext>
              </a:extLst>
            </p:cNvPr>
            <p:cNvSpPr/>
            <p:nvPr/>
          </p:nvSpPr>
          <p:spPr>
            <a:xfrm>
              <a:off x="4235722" y="2957955"/>
              <a:ext cx="1717705" cy="829963"/>
            </a:xfrm>
            <a:prstGeom prst="borderCallout2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Analysis Review Meeting</a:t>
              </a:r>
            </a:p>
          </p:txBody>
        </p:sp>
        <p:sp>
          <p:nvSpPr>
            <p:cNvPr id="899" name="Callout: Bent Line 898">
              <a:extLst>
                <a:ext uri="{FF2B5EF4-FFF2-40B4-BE49-F238E27FC236}">
                  <a16:creationId xmlns:a16="http://schemas.microsoft.com/office/drawing/2014/main" id="{4FE60247-68C4-23EB-A212-E79C951F20DF}"/>
                </a:ext>
              </a:extLst>
            </p:cNvPr>
            <p:cNvSpPr/>
            <p:nvPr/>
          </p:nvSpPr>
          <p:spPr>
            <a:xfrm>
              <a:off x="6883692" y="1694713"/>
              <a:ext cx="1803969" cy="1202776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strike="sngStrike" dirty="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Verbal report to overall Bight committee</a:t>
              </a:r>
            </a:p>
          </p:txBody>
        </p:sp>
        <p:sp>
          <p:nvSpPr>
            <p:cNvPr id="900" name="Callout: Bent Line 899">
              <a:extLst>
                <a:ext uri="{FF2B5EF4-FFF2-40B4-BE49-F238E27FC236}">
                  <a16:creationId xmlns:a16="http://schemas.microsoft.com/office/drawing/2014/main" id="{0964F4B9-C55D-B8A2-2859-CDFE3A18822C}"/>
                </a:ext>
              </a:extLst>
            </p:cNvPr>
            <p:cNvSpPr/>
            <p:nvPr/>
          </p:nvSpPr>
          <p:spPr>
            <a:xfrm>
              <a:off x="9945117" y="1985430"/>
              <a:ext cx="1717705" cy="912058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Calibri Light"/>
                  <a:ea typeface="Calibri"/>
                  <a:cs typeface="Calibri"/>
                </a:rPr>
                <a:t>Draft report written</a:t>
              </a:r>
            </a:p>
          </p:txBody>
        </p:sp>
      </p:grp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39C1F0EC-D495-078C-2198-9C8CB251A854}"/>
              </a:ext>
            </a:extLst>
          </p:cNvPr>
          <p:cNvSpPr/>
          <p:nvPr/>
        </p:nvSpPr>
        <p:spPr>
          <a:xfrm>
            <a:off x="6504698" y="5192070"/>
            <a:ext cx="885749" cy="75921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A5697B2B-44BD-D80D-7FC0-B06E37EF0856}"/>
              </a:ext>
            </a:extLst>
          </p:cNvPr>
          <p:cNvSpPr/>
          <p:nvPr/>
        </p:nvSpPr>
        <p:spPr>
          <a:xfrm>
            <a:off x="4365118" y="1366111"/>
            <a:ext cx="1734513" cy="707886"/>
          </a:xfrm>
          <a:prstGeom prst="borderCallout2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Light"/>
                <a:ea typeface="Calibri"/>
                <a:cs typeface="Calibri"/>
              </a:rPr>
              <a:t>Public landing page available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5676B687-D053-4799-5389-9DC748F27FD3}"/>
              </a:ext>
            </a:extLst>
          </p:cNvPr>
          <p:cNvSpPr/>
          <p:nvPr/>
        </p:nvSpPr>
        <p:spPr>
          <a:xfrm>
            <a:off x="6938665" y="1578846"/>
            <a:ext cx="1763267" cy="1015663"/>
          </a:xfrm>
          <a:prstGeom prst="borderCallout2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Light"/>
                <a:ea typeface="Calibri"/>
                <a:cs typeface="Calibri"/>
              </a:rPr>
              <a:t>Recorded data portal webinar available </a:t>
            </a: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992B9FE5-7E80-88B4-1F99-98ACC8F33711}"/>
              </a:ext>
            </a:extLst>
          </p:cNvPr>
          <p:cNvSpPr/>
          <p:nvPr/>
        </p:nvSpPr>
        <p:spPr>
          <a:xfrm>
            <a:off x="9702026" y="619441"/>
            <a:ext cx="2484699" cy="2208261"/>
          </a:xfrm>
          <a:prstGeom prst="star5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A253F-650B-0AC1-ACEC-7FFE262DACE3}"/>
              </a:ext>
            </a:extLst>
          </p:cNvPr>
          <p:cNvSpPr txBox="1"/>
          <p:nvPr/>
        </p:nvSpPr>
        <p:spPr>
          <a:xfrm>
            <a:off x="10106394" y="1293660"/>
            <a:ext cx="166729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ea typeface="Calibri"/>
                <a:cs typeface="Calibri"/>
              </a:rPr>
              <a:t>Target deadline: March 2026</a:t>
            </a:r>
          </a:p>
        </p:txBody>
      </p:sp>
    </p:spTree>
    <p:extLst>
      <p:ext uri="{BB962C8B-B14F-4D97-AF65-F5344CB8AC3E}">
        <p14:creationId xmlns:p14="http://schemas.microsoft.com/office/powerpoint/2010/main" val="276243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927</Words>
  <Application>Microsoft Macintosh PowerPoint</Application>
  <PresentationFormat>Widescreen</PresentationFormat>
  <Paragraphs>148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Calibri Light</vt:lpstr>
      <vt:lpstr>Office Theme</vt:lpstr>
      <vt:lpstr>Bight SAV Winter Update</vt:lpstr>
      <vt:lpstr>Agenda</vt:lpstr>
      <vt:lpstr>QA/QC</vt:lpstr>
      <vt:lpstr>QA/QC</vt:lpstr>
      <vt:lpstr>PowerPoint Presentation</vt:lpstr>
      <vt:lpstr>Primary Analysis</vt:lpstr>
      <vt:lpstr>Primary Analysis</vt:lpstr>
      <vt:lpstr>PowerPoint Presentation</vt:lpstr>
      <vt:lpstr>PowerPoint Presentation</vt:lpstr>
      <vt:lpstr>PowerPoint Presentation</vt:lpstr>
      <vt:lpstr>Secondary analyses</vt:lpstr>
      <vt:lpstr>Secondary analyses</vt:lpstr>
      <vt:lpstr>Potential environmental drivers we discussed</vt:lpstr>
      <vt:lpstr>Potential environmental drivers we discussed</vt:lpstr>
      <vt:lpstr>Distance to inlet vs. overall score</vt:lpstr>
      <vt:lpstr>Distance to inlet vs. water quality condition</vt:lpstr>
      <vt:lpstr>Site protection status vs. overall score</vt:lpstr>
      <vt:lpstr>Site protection status vs. ecosystem function</vt:lpstr>
      <vt:lpstr>Other items </vt:lpstr>
      <vt:lpstr>PowerPoint Presentation</vt:lpstr>
      <vt:lpstr>Appendix material</vt:lpstr>
      <vt:lpstr>Appendix material: one or both options?</vt:lpstr>
      <vt:lpstr>Bight Report</vt:lpstr>
      <vt:lpstr>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Jill Tupitza</dc:creator>
  <cp:lastModifiedBy>Jill Tupitza</cp:lastModifiedBy>
  <cp:revision>1</cp:revision>
  <dcterms:created xsi:type="dcterms:W3CDTF">2026-01-20T21:28:06Z</dcterms:created>
  <dcterms:modified xsi:type="dcterms:W3CDTF">2026-01-21T17:05:52Z</dcterms:modified>
</cp:coreProperties>
</file>